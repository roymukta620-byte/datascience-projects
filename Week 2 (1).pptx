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3"/>
  </p:notesMasterIdLst>
  <p:sldIdLst>
    <p:sldId id="298" r:id="rId2"/>
    <p:sldId id="409" r:id="rId3"/>
    <p:sldId id="370" r:id="rId4"/>
    <p:sldId id="327" r:id="rId5"/>
    <p:sldId id="410" r:id="rId6"/>
    <p:sldId id="411" r:id="rId7"/>
    <p:sldId id="455" r:id="rId8"/>
    <p:sldId id="454" r:id="rId9"/>
    <p:sldId id="453" r:id="rId10"/>
    <p:sldId id="412" r:id="rId11"/>
    <p:sldId id="415" r:id="rId12"/>
    <p:sldId id="416" r:id="rId13"/>
    <p:sldId id="413" r:id="rId14"/>
    <p:sldId id="456" r:id="rId15"/>
    <p:sldId id="457" r:id="rId16"/>
    <p:sldId id="458" r:id="rId17"/>
    <p:sldId id="414" r:id="rId18"/>
    <p:sldId id="459" r:id="rId19"/>
    <p:sldId id="460" r:id="rId20"/>
    <p:sldId id="434" r:id="rId21"/>
    <p:sldId id="461" r:id="rId22"/>
    <p:sldId id="464" r:id="rId23"/>
    <p:sldId id="465" r:id="rId24"/>
    <p:sldId id="463" r:id="rId25"/>
    <p:sldId id="435" r:id="rId26"/>
    <p:sldId id="466" r:id="rId27"/>
    <p:sldId id="417" r:id="rId28"/>
    <p:sldId id="467" r:id="rId29"/>
    <p:sldId id="468" r:id="rId30"/>
    <p:sldId id="419" r:id="rId31"/>
    <p:sldId id="469" r:id="rId32"/>
    <p:sldId id="470" r:id="rId33"/>
    <p:sldId id="420" r:id="rId34"/>
    <p:sldId id="471" r:id="rId35"/>
    <p:sldId id="437" r:id="rId36"/>
    <p:sldId id="472" r:id="rId37"/>
    <p:sldId id="438" r:id="rId38"/>
    <p:sldId id="473" r:id="rId39"/>
    <p:sldId id="447" r:id="rId40"/>
    <p:sldId id="474" r:id="rId41"/>
    <p:sldId id="475" r:id="rId42"/>
    <p:sldId id="440" r:id="rId43"/>
    <p:sldId id="477" r:id="rId44"/>
    <p:sldId id="476" r:id="rId45"/>
    <p:sldId id="478" r:id="rId46"/>
    <p:sldId id="444" r:id="rId47"/>
    <p:sldId id="479" r:id="rId48"/>
    <p:sldId id="445" r:id="rId49"/>
    <p:sldId id="480" r:id="rId50"/>
    <p:sldId id="481" r:id="rId51"/>
    <p:sldId id="418" r:id="rId52"/>
    <p:sldId id="482" r:id="rId53"/>
    <p:sldId id="484" r:id="rId54"/>
    <p:sldId id="485" r:id="rId55"/>
    <p:sldId id="446" r:id="rId56"/>
    <p:sldId id="486" r:id="rId57"/>
    <p:sldId id="488" r:id="rId58"/>
    <p:sldId id="487" r:id="rId59"/>
    <p:sldId id="489" r:id="rId60"/>
    <p:sldId id="491" r:id="rId61"/>
    <p:sldId id="490" r:id="rId62"/>
    <p:sldId id="492" r:id="rId63"/>
    <p:sldId id="493" r:id="rId64"/>
    <p:sldId id="423" r:id="rId65"/>
    <p:sldId id="494" r:id="rId66"/>
    <p:sldId id="495" r:id="rId67"/>
    <p:sldId id="496" r:id="rId68"/>
    <p:sldId id="425" r:id="rId69"/>
    <p:sldId id="497" r:id="rId70"/>
    <p:sldId id="498" r:id="rId71"/>
    <p:sldId id="499" r:id="rId72"/>
    <p:sldId id="500" r:id="rId73"/>
    <p:sldId id="426" r:id="rId74"/>
    <p:sldId id="501" r:id="rId75"/>
    <p:sldId id="427" r:id="rId76"/>
    <p:sldId id="502" r:id="rId77"/>
    <p:sldId id="429" r:id="rId78"/>
    <p:sldId id="505" r:id="rId79"/>
    <p:sldId id="503" r:id="rId80"/>
    <p:sldId id="533" r:id="rId81"/>
    <p:sldId id="504" r:id="rId82"/>
    <p:sldId id="507" r:id="rId83"/>
    <p:sldId id="506" r:id="rId84"/>
    <p:sldId id="430" r:id="rId85"/>
    <p:sldId id="508" r:id="rId86"/>
    <p:sldId id="509" r:id="rId87"/>
    <p:sldId id="510" r:id="rId88"/>
    <p:sldId id="511" r:id="rId89"/>
    <p:sldId id="431" r:id="rId90"/>
    <p:sldId id="432" r:id="rId91"/>
    <p:sldId id="512" r:id="rId92"/>
    <p:sldId id="513" r:id="rId93"/>
    <p:sldId id="433" r:id="rId94"/>
    <p:sldId id="514" r:id="rId95"/>
    <p:sldId id="436" r:id="rId96"/>
    <p:sldId id="441" r:id="rId97"/>
    <p:sldId id="516" r:id="rId98"/>
    <p:sldId id="515" r:id="rId99"/>
    <p:sldId id="448" r:id="rId100"/>
    <p:sldId id="517" r:id="rId101"/>
    <p:sldId id="520" r:id="rId102"/>
    <p:sldId id="518" r:id="rId103"/>
    <p:sldId id="449" r:id="rId104"/>
    <p:sldId id="522" r:id="rId105"/>
    <p:sldId id="521" r:id="rId106"/>
    <p:sldId id="532" r:id="rId107"/>
    <p:sldId id="523" r:id="rId108"/>
    <p:sldId id="524" r:id="rId109"/>
    <p:sldId id="450" r:id="rId110"/>
    <p:sldId id="525" r:id="rId111"/>
    <p:sldId id="526" r:id="rId112"/>
    <p:sldId id="451" r:id="rId113"/>
    <p:sldId id="527" r:id="rId114"/>
    <p:sldId id="528" r:id="rId115"/>
    <p:sldId id="529" r:id="rId116"/>
    <p:sldId id="530" r:id="rId117"/>
    <p:sldId id="531" r:id="rId118"/>
    <p:sldId id="452" r:id="rId119"/>
    <p:sldId id="439" r:id="rId120"/>
    <p:sldId id="401" r:id="rId121"/>
    <p:sldId id="361" r:id="rId1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85191"/>
  </p:normalViewPr>
  <p:slideViewPr>
    <p:cSldViewPr snapToGrid="0" snapToObjects="1">
      <p:cViewPr varScale="1">
        <p:scale>
          <a:sx n="95" d="100"/>
          <a:sy n="95" d="100"/>
        </p:scale>
        <p:origin x="1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7F175-B3BA-F140-95EC-826265F7094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09FEF-F3D8-F843-B518-76C7542A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20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81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61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10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10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3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22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34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95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72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54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77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79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85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08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36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8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31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11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51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35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86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58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22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961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980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859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162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69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60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170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2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914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570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789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783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475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851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725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101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639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393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649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084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220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066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77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565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121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219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216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495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898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523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828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1891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5973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577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065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050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807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00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235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8829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3524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2429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0259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3262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4553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843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0179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3570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2252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6458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4490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3435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0962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3183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5967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5412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550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35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2087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238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6571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2532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1070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8345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5751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519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8843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4688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2220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434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186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726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5056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1201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1174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09FEF-F3D8-F843-B518-76C7542A8A93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55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4061-B87C-D64F-B59F-76B5AF7DD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8CE11-E94C-DA41-90FE-CCBA38182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196BC-40F1-DE4C-A379-8C6C0E6F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1FC67-8410-6F48-B808-E4E1B452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1F60-C542-714E-9CBE-2CF39D1A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5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C8D2-3E51-A84F-B07C-C1488462F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2EF64-9C60-A044-88E5-102713BF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5D318-8C19-7B49-9BCA-33166C10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7C5B3-C9A1-E944-8427-C7BF0306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CCA28A4-8E7C-0D49-AB86-65CE4603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369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335B-8400-E145-B14C-2886DA393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B7E23-A91C-2146-93CA-FB34D4DE7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9C460-209E-B541-9C2E-CE75673A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9C7BA-1C17-854A-ADC6-8B0137B1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06506-732C-7544-8888-D99834F2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4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F215-54AA-BE43-BAA7-0E6ADB23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FD80E-9AC4-144E-8617-F73D21829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BED30-5F5A-534B-9FDE-0CF0CF300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EF56B-1A7D-044B-ADD2-5F0B734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F90F8-BEEC-2041-8A45-FD369162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88764-9950-5A42-9443-5AFAF2CD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79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5886-2A04-0D4E-B630-832724E7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D67E4-9208-864B-858E-AA35996A4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14CD1-F0A3-8049-BB6D-2AE7986B3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87F908-7009-C84B-A5D7-765D56709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343E8-8FDF-0247-B856-6176AF1CA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62F8D-364F-5F49-998D-72153EBAC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C09AC-18C8-B04F-A3AC-50C6B30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4E0E92-BE16-E646-960E-7BABF067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9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9323-5FAF-7A41-AB32-7DF6709A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2848A0-4182-6746-B320-4AFD4BEE9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CBDB8-D4FC-664E-9297-41EABC08C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10A65-AD81-5349-B141-012CC592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7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BCE18-40D4-6B4C-A3A9-CE5B6B05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B4BD0-77BB-284E-B81C-775A32C5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8DDCE-3FCA-8D43-B16A-3CBEC76F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4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BD3A-E971-1345-A9F0-64B53B7B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3E096-6071-7248-A11D-248CD14FC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04B8C-5ED0-6A40-AA65-3C04E044B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64293-35E1-2A46-A87D-89946729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70973-4E92-EB4D-B3E1-A5BB4604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FDCEB-27C7-6C4A-8A3E-33E835B4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79A2-8449-8240-9A55-BEBB8696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DAEC6-1094-CD48-87F0-7F7DEBDFB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E39FD-3359-DC42-8070-7BE16CBE9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8F0BC-AD0C-2241-8F45-4A7A0A4C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1A109-37B3-E843-86A7-350EC0A6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02FC0-EBF6-9E4C-892B-4E31931E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5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7D7C-195C-F14C-87F2-82318308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F9443-2779-6A42-A245-1FD702C32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FA848-36BD-5F44-9861-26794578C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E4412-9FC1-7249-8AF4-1A90B56D3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726D6-562E-2642-BCE8-4096F1FE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9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8FBFF-A088-4247-8535-4E2E72660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58C84-414A-DE49-9B25-2FCB10116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A540A-0113-024B-A44F-410478310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D073F-26E7-C542-9344-DFCAA994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80932-0DAF-6840-84B6-E79B44A4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0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068D2-E259-E74B-A3FF-03A99B5A3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29BFB-AB5B-664D-8438-E3FD805CB0AD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D1929-E9B2-934D-A2E9-B04F13BC3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F25B4-307A-9844-96DE-CCB39F3BB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B9EA1-DAA9-9244-8CCA-E868E21FE06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44DB4-6D99-BD43-9639-E7B6F5FAD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46200"/>
          </a:xfrm>
          <a:prstGeom prst="rect">
            <a:avLst/>
          </a:prstGeom>
          <a:solidFill>
            <a:srgbClr val="003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EE8485-C3F4-C24B-B33F-498B0DFAA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850" y="5492205"/>
            <a:ext cx="879885" cy="701291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E195971-EBF1-8A48-B0B0-2B2020F2FAC3}"/>
              </a:ext>
            </a:extLst>
          </p:cNvPr>
          <p:cNvSpPr txBox="1">
            <a:spLocks/>
          </p:cNvSpPr>
          <p:nvPr userDrawn="1"/>
        </p:nvSpPr>
        <p:spPr>
          <a:xfrm>
            <a:off x="667658" y="1771650"/>
            <a:ext cx="10856685" cy="3926506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rgbClr val="1A3F82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64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WQUbJrkf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canvas.sussex.ac.uk/courses/30255/pages/msc-drop-in-clinic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" TargetMode="External"/><Relationship Id="rId2" Type="http://schemas.openxmlformats.org/officeDocument/2006/relationships/hyperlink" Target="https://pandas.pydata.org/docs/reference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E83DB823-7382-7043-93D5-BF40DA378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9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5BC43C-42E5-DC45-B9BF-68C3C94A7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751" y="1898583"/>
            <a:ext cx="10950498" cy="2387600"/>
          </a:xfrm>
        </p:spPr>
        <p:txBody>
          <a:bodyPr/>
          <a:lstStyle/>
          <a:p>
            <a:r>
              <a:rPr lang="en-US" u="sng" dirty="0">
                <a:solidFill>
                  <a:schemeClr val="bg1"/>
                </a:solidFill>
              </a:rPr>
              <a:t>Data Science Research Methods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Data Wrangling and Cleaning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4E0666-0CBD-084C-0E32-73CF43B0CE91}"/>
              </a:ext>
            </a:extLst>
          </p:cNvPr>
          <p:cNvSpPr txBox="1">
            <a:spLocks/>
          </p:cNvSpPr>
          <p:nvPr/>
        </p:nvSpPr>
        <p:spPr>
          <a:xfrm>
            <a:off x="620751" y="4479234"/>
            <a:ext cx="10950498" cy="133757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>
                <a:solidFill>
                  <a:schemeClr val="bg1"/>
                </a:solidFill>
              </a:rPr>
              <a:t>Dr James Van Yperen</a:t>
            </a:r>
          </a:p>
        </p:txBody>
      </p:sp>
    </p:spTree>
    <p:extLst>
      <p:ext uri="{BB962C8B-B14F-4D97-AF65-F5344CB8AC3E}">
        <p14:creationId xmlns:p14="http://schemas.microsoft.com/office/powerpoint/2010/main" val="97737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0A0529-3D47-8737-E0BA-F8560D329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Installed Anaconda on your own computer.</a:t>
            </a:r>
          </a:p>
          <a:p>
            <a:r>
              <a:rPr lang="en-GB" dirty="0"/>
              <a:t>Completed the crash course.</a:t>
            </a:r>
          </a:p>
          <a:p>
            <a:r>
              <a:rPr lang="en-GB" dirty="0"/>
              <a:t>Explored Canvas.</a:t>
            </a:r>
          </a:p>
          <a:p>
            <a:r>
              <a:rPr lang="en-GB" dirty="0"/>
              <a:t>Explored:</a:t>
            </a:r>
          </a:p>
          <a:p>
            <a:pPr lvl="1"/>
            <a:r>
              <a:rPr lang="en-GB" dirty="0"/>
              <a:t>What is data science?</a:t>
            </a:r>
          </a:p>
          <a:p>
            <a:pPr lvl="1"/>
            <a:r>
              <a:rPr lang="en-GB" dirty="0"/>
              <a:t>What skills do data scientists need?</a:t>
            </a:r>
          </a:p>
          <a:p>
            <a:pPr lvl="1"/>
            <a:r>
              <a:rPr lang="en-GB" dirty="0"/>
              <a:t>What do data scientists (analysts) do? </a:t>
            </a:r>
          </a:p>
          <a:p>
            <a:r>
              <a:rPr lang="en-GB" dirty="0"/>
              <a:t>Learned about the Data Science process. 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2D99AB-B4BE-A219-7381-6C5B7354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Last Week</a:t>
            </a:r>
          </a:p>
        </p:txBody>
      </p:sp>
    </p:spTree>
    <p:extLst>
      <p:ext uri="{BB962C8B-B14F-4D97-AF65-F5344CB8AC3E}">
        <p14:creationId xmlns:p14="http://schemas.microsoft.com/office/powerpoint/2010/main" val="3630638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05FAA7-31AB-8501-D6F6-99E9ACAB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WANT YOUR DATA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DE009E21-B61D-C785-6D58-BD10A8B2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115"/>
            <a:ext cx="5257800" cy="5220068"/>
          </a:xfrm>
        </p:spPr>
        <p:txBody>
          <a:bodyPr/>
          <a:lstStyle/>
          <a:p>
            <a:r>
              <a:rPr lang="en-GB" sz="2400" dirty="0"/>
              <a:t>I have got approval to collect your data! </a:t>
            </a:r>
          </a:p>
          <a:p>
            <a:r>
              <a:rPr lang="en-GB" sz="2400" dirty="0"/>
              <a:t>If possible, I would like all your responses by the 20th October - that should give me plenty of time to analyse the data. </a:t>
            </a:r>
          </a:p>
          <a:p>
            <a:r>
              <a:rPr lang="en-GB" sz="2400" dirty="0"/>
              <a:t>If you have any questions about the survey and what I plan on doing with your data, then please email me to book an appointment. </a:t>
            </a:r>
          </a:p>
          <a:p>
            <a:r>
              <a:rPr lang="en-GB" sz="2400" dirty="0"/>
              <a:t>Note, participation in this survey has </a:t>
            </a:r>
            <a:r>
              <a:rPr lang="en-GB" sz="2400" b="1" dirty="0"/>
              <a:t>nothing to do with your grade</a:t>
            </a:r>
            <a:r>
              <a:rPr lang="en-GB" sz="2400" dirty="0"/>
              <a:t>, it is completely up to you if you want to participate. </a:t>
            </a:r>
          </a:p>
        </p:txBody>
      </p:sp>
      <p:pic>
        <p:nvPicPr>
          <p:cNvPr id="4" name="Picture 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6E7AA5C7-6973-E93C-EEBB-E53CA7F37C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69" t="9936" r="9494" b="9475"/>
          <a:stretch/>
        </p:blipFill>
        <p:spPr>
          <a:xfrm>
            <a:off x="6728059" y="1357161"/>
            <a:ext cx="5463941" cy="54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1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B8C5D-1365-AB93-1044-9F506A756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198" y="1459865"/>
            <a:ext cx="10515600" cy="5398134"/>
          </a:xfrm>
        </p:spPr>
        <p:txBody>
          <a:bodyPr/>
          <a:lstStyle/>
          <a:p>
            <a:r>
              <a:rPr lang="en-GB" dirty="0"/>
              <a:t>Labs: Wednesday 3pm – 4pm, 4pm – 5pm.</a:t>
            </a:r>
          </a:p>
          <a:p>
            <a:pPr lvl="1"/>
            <a:r>
              <a:rPr lang="en-GB" dirty="0"/>
              <a:t>Chichester 016, 017, 018. </a:t>
            </a:r>
          </a:p>
          <a:p>
            <a:r>
              <a:rPr lang="en-GB" dirty="0"/>
              <a:t>Helpdesk: Friday 10am – 11am. </a:t>
            </a:r>
          </a:p>
          <a:p>
            <a:pPr lvl="1"/>
            <a:r>
              <a:rPr lang="en-GB" dirty="0"/>
              <a:t>Online. </a:t>
            </a:r>
          </a:p>
          <a:p>
            <a:r>
              <a:rPr lang="en-GB" dirty="0"/>
              <a:t>Office Hours: Friday 11am - 12pm.</a:t>
            </a:r>
          </a:p>
          <a:p>
            <a:pPr lvl="1"/>
            <a:r>
              <a:rPr lang="en-GB" dirty="0"/>
              <a:t>Pevensey 3 5C15.</a:t>
            </a:r>
          </a:p>
          <a:p>
            <a:pPr lvl="1"/>
            <a:r>
              <a:rPr lang="en-GB" dirty="0"/>
              <a:t>Zoom. </a:t>
            </a:r>
          </a:p>
          <a:p>
            <a:r>
              <a:rPr lang="en-GB" dirty="0"/>
              <a:t>Discord:</a:t>
            </a:r>
          </a:p>
          <a:p>
            <a:pPr lvl="1"/>
            <a:r>
              <a:rPr lang="en-GB" dirty="0">
                <a:hlinkClick r:id="rId3"/>
              </a:rPr>
              <a:t>https://discord.com/invite/WQUbJrkfK</a:t>
            </a:r>
            <a:endParaRPr lang="en-GB" dirty="0"/>
          </a:p>
          <a:p>
            <a:r>
              <a:rPr lang="en-GB" dirty="0"/>
              <a:t>Data Science Maths, Stats &amp; Coding Clinic:</a:t>
            </a:r>
          </a:p>
          <a:p>
            <a:pPr lvl="1"/>
            <a:r>
              <a:rPr lang="en-GB" dirty="0">
                <a:hlinkClick r:id="rId4"/>
              </a:rPr>
              <a:t>https://canvas.sussex.ac.uk/courses/30255/pages/msc-drop-in-clinic</a:t>
            </a:r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04C34B-9C0A-82A4-532F-87E9B293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134302"/>
            <a:ext cx="11238297" cy="1325563"/>
          </a:xfrm>
        </p:spPr>
        <p:txBody>
          <a:bodyPr/>
          <a:lstStyle/>
          <a:p>
            <a:r>
              <a:rPr lang="en-GB" dirty="0"/>
              <a:t>Labs, Helpdesk, Office Hours, Discord, MSC Drop-in Clinic</a:t>
            </a:r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0A3C1BCC-5589-FEFF-40EF-927B6AEC20B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527" t="9347" r="10484" b="9305"/>
          <a:stretch/>
        </p:blipFill>
        <p:spPr>
          <a:xfrm>
            <a:off x="8138281" y="1366788"/>
            <a:ext cx="4013612" cy="403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61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1186B9-3186-85C1-12A6-E5C92325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8FE4EC-DA97-DAFA-D23D-F9F30DFC967C}"/>
              </a:ext>
            </a:extLst>
          </p:cNvPr>
          <p:cNvGraphicFramePr>
            <a:graphicFrameLocks noGrp="1"/>
          </p:cNvGraphicFramePr>
          <p:nvPr/>
        </p:nvGraphicFramePr>
        <p:xfrm>
          <a:off x="202453" y="1345890"/>
          <a:ext cx="3683453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752">
                  <a:extLst>
                    <a:ext uri="{9D8B030D-6E8A-4147-A177-3AD203B41FA5}">
                      <a16:colId xmlns:a16="http://schemas.microsoft.com/office/drawing/2014/main" val="1845779547"/>
                    </a:ext>
                  </a:extLst>
                </a:gridCol>
                <a:gridCol w="2781701">
                  <a:extLst>
                    <a:ext uri="{9D8B030D-6E8A-4147-A177-3AD203B41FA5}">
                      <a16:colId xmlns:a16="http://schemas.microsoft.com/office/drawing/2014/main" val="2645083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3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Help with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5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Data, the data science process, and data science tools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0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i="1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i="1" dirty="0"/>
                        <a:t>Data wrangling and cleaning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41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3 </a:t>
                      </a:r>
                      <a:endParaRPr lang="en-GB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Exploratory data analysis  – summary statistics and visualisation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65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4-5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Statistical inference and hypothesis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16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Supervised learning, model selection and making 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871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Unsupervised learning, clustering and visualisation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0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Dimensionality reduction and principal component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252422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33C01641-5D5D-DA93-894C-4851BF134C3B}"/>
              </a:ext>
            </a:extLst>
          </p:cNvPr>
          <p:cNvGrpSpPr/>
          <p:nvPr/>
        </p:nvGrpSpPr>
        <p:grpSpPr>
          <a:xfrm>
            <a:off x="4349031" y="1407273"/>
            <a:ext cx="7640516" cy="4861658"/>
            <a:chOff x="4349031" y="1407273"/>
            <a:chExt cx="7640516" cy="486165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764517B-B93B-552E-0413-38C1CDD4AF5D}"/>
                </a:ext>
              </a:extLst>
            </p:cNvPr>
            <p:cNvGrpSpPr/>
            <p:nvPr/>
          </p:nvGrpSpPr>
          <p:grpSpPr>
            <a:xfrm>
              <a:off x="4349031" y="1407273"/>
              <a:ext cx="7640516" cy="4861658"/>
              <a:chOff x="498230" y="1559169"/>
              <a:chExt cx="7640516" cy="4861658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A026DF8-0F35-1B42-D26C-BB8FB8DFF5CA}"/>
                  </a:ext>
                </a:extLst>
              </p:cNvPr>
              <p:cNvSpPr/>
              <p:nvPr/>
            </p:nvSpPr>
            <p:spPr>
              <a:xfrm>
                <a:off x="656491" y="1559169"/>
                <a:ext cx="1055077" cy="86750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Real world</a:t>
                </a: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9D0844F-A9D6-F16C-4DF0-238D2537F6C2}"/>
                  </a:ext>
                </a:extLst>
              </p:cNvPr>
              <p:cNvSpPr/>
              <p:nvPr/>
            </p:nvSpPr>
            <p:spPr>
              <a:xfrm>
                <a:off x="498230" y="2753213"/>
                <a:ext cx="1371600" cy="86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Data Collection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94A6B77-1B68-D7B2-8900-D6933BF3B474}"/>
                  </a:ext>
                </a:extLst>
              </p:cNvPr>
              <p:cNvSpPr/>
              <p:nvPr/>
            </p:nvSpPr>
            <p:spPr>
              <a:xfrm>
                <a:off x="498230" y="4065343"/>
                <a:ext cx="1371600" cy="867508"/>
              </a:xfrm>
              <a:prstGeom prst="round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Data Wrangling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5F31E76E-DA4F-56E6-974E-166358C99F02}"/>
                  </a:ext>
                </a:extLst>
              </p:cNvPr>
              <p:cNvSpPr/>
              <p:nvPr/>
            </p:nvSpPr>
            <p:spPr>
              <a:xfrm>
                <a:off x="498230" y="5553319"/>
                <a:ext cx="1371600" cy="867508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Data Cleaning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DA39C86-3C62-78E9-BA86-FA6C602C0DE0}"/>
                  </a:ext>
                </a:extLst>
              </p:cNvPr>
              <p:cNvSpPr/>
              <p:nvPr/>
            </p:nvSpPr>
            <p:spPr>
              <a:xfrm>
                <a:off x="6635262" y="1559169"/>
                <a:ext cx="1371600" cy="86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Data Solution / Product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476F5A4-CD79-A0E8-AFF5-F70298301230}"/>
                  </a:ext>
                </a:extLst>
              </p:cNvPr>
              <p:cNvSpPr/>
              <p:nvPr/>
            </p:nvSpPr>
            <p:spPr>
              <a:xfrm>
                <a:off x="6503377" y="4694115"/>
                <a:ext cx="1635369" cy="86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Mathematical Modelling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7D9577B1-7500-BD80-CCBE-A90351901E2C}"/>
                  </a:ext>
                </a:extLst>
              </p:cNvPr>
              <p:cNvSpPr/>
              <p:nvPr/>
            </p:nvSpPr>
            <p:spPr>
              <a:xfrm>
                <a:off x="3423142" y="4694115"/>
                <a:ext cx="1371600" cy="86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Exploratory Data Analysis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3FE00EC-F4CA-2CE1-E910-B7B4B6B533E0}"/>
                  </a:ext>
                </a:extLst>
              </p:cNvPr>
              <p:cNvSpPr/>
              <p:nvPr/>
            </p:nvSpPr>
            <p:spPr>
              <a:xfrm>
                <a:off x="4794742" y="3183547"/>
                <a:ext cx="1805352" cy="86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Communication and Visualisation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6E7AC68D-BB6B-C6B5-AF38-30FA75EC916C}"/>
                  </a:ext>
                </a:extLst>
              </p:cNvPr>
              <p:cNvCxnSpPr>
                <a:stCxn id="7" idx="4"/>
                <a:endCxn id="8" idx="0"/>
              </p:cNvCxnSpPr>
              <p:nvPr/>
            </p:nvCxnSpPr>
            <p:spPr>
              <a:xfrm>
                <a:off x="1184030" y="2426677"/>
                <a:ext cx="0" cy="32653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0237D49D-3926-D0B4-76A6-911174F154DC}"/>
                  </a:ext>
                </a:extLst>
              </p:cNvPr>
              <p:cNvCxnSpPr>
                <a:stCxn id="8" idx="2"/>
                <a:endCxn id="9" idx="0"/>
              </p:cNvCxnSpPr>
              <p:nvPr/>
            </p:nvCxnSpPr>
            <p:spPr>
              <a:xfrm>
                <a:off x="1184030" y="3620721"/>
                <a:ext cx="0" cy="44462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32775283-3624-A70C-486D-1098FFC9520A}"/>
                  </a:ext>
                </a:extLst>
              </p:cNvPr>
              <p:cNvCxnSpPr>
                <a:stCxn id="9" idx="2"/>
                <a:endCxn id="10" idx="0"/>
              </p:cNvCxnSpPr>
              <p:nvPr/>
            </p:nvCxnSpPr>
            <p:spPr>
              <a:xfrm>
                <a:off x="1184030" y="4932851"/>
                <a:ext cx="0" cy="62046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3E9F7C6-6AF5-9FF1-78D1-B2A527DA9099}"/>
                  </a:ext>
                </a:extLst>
              </p:cNvPr>
              <p:cNvCxnSpPr>
                <a:stCxn id="10" idx="3"/>
                <a:endCxn id="13" idx="1"/>
              </p:cNvCxnSpPr>
              <p:nvPr/>
            </p:nvCxnSpPr>
            <p:spPr>
              <a:xfrm flipV="1">
                <a:off x="1869830" y="5127869"/>
                <a:ext cx="1553312" cy="85920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60189157-8C52-07C8-F74C-0967F13FBCA3}"/>
                  </a:ext>
                </a:extLst>
              </p:cNvPr>
              <p:cNvCxnSpPr>
                <a:stCxn id="7" idx="5"/>
                <a:endCxn id="13" idx="1"/>
              </p:cNvCxnSpPr>
              <p:nvPr/>
            </p:nvCxnSpPr>
            <p:spPr>
              <a:xfrm>
                <a:off x="1557056" y="2299633"/>
                <a:ext cx="1866086" cy="282823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AC53C2C7-F28F-3D59-6DEA-15F8E7A2FA57}"/>
                  </a:ext>
                </a:extLst>
              </p:cNvPr>
              <p:cNvCxnSpPr>
                <a:stCxn id="13" idx="3"/>
                <a:endCxn id="12" idx="1"/>
              </p:cNvCxnSpPr>
              <p:nvPr/>
            </p:nvCxnSpPr>
            <p:spPr>
              <a:xfrm>
                <a:off x="4794742" y="5127869"/>
                <a:ext cx="1708635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0F6CEB1-AB4D-A34B-2449-C894904B035A}"/>
                  </a:ext>
                </a:extLst>
              </p:cNvPr>
              <p:cNvCxnSpPr>
                <a:stCxn id="12" idx="0"/>
                <a:endCxn id="14" idx="2"/>
              </p:cNvCxnSpPr>
              <p:nvPr/>
            </p:nvCxnSpPr>
            <p:spPr>
              <a:xfrm flipH="1" flipV="1">
                <a:off x="5697418" y="4051055"/>
                <a:ext cx="1623644" cy="6430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2179930-F18E-C969-1FAC-DF7F8D92BE3F}"/>
                  </a:ext>
                </a:extLst>
              </p:cNvPr>
              <p:cNvCxnSpPr>
                <a:stCxn id="13" idx="0"/>
                <a:endCxn id="14" idx="2"/>
              </p:cNvCxnSpPr>
              <p:nvPr/>
            </p:nvCxnSpPr>
            <p:spPr>
              <a:xfrm flipV="1">
                <a:off x="4108942" y="4051055"/>
                <a:ext cx="1588476" cy="6430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5F525EE-0648-88FB-9D1E-E2583F6E31C5}"/>
                  </a:ext>
                </a:extLst>
              </p:cNvPr>
              <p:cNvCxnSpPr>
                <a:stCxn id="12" idx="0"/>
                <a:endCxn id="11" idx="2"/>
              </p:cNvCxnSpPr>
              <p:nvPr/>
            </p:nvCxnSpPr>
            <p:spPr>
              <a:xfrm flipV="1">
                <a:off x="7321062" y="2426677"/>
                <a:ext cx="0" cy="226743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F977947-A9FC-D27B-E7A8-F73BBB0E1450}"/>
                  </a:ext>
                </a:extLst>
              </p:cNvPr>
              <p:cNvCxnSpPr>
                <a:stCxn id="11" idx="1"/>
                <a:endCxn id="7" idx="6"/>
              </p:cNvCxnSpPr>
              <p:nvPr/>
            </p:nvCxnSpPr>
            <p:spPr>
              <a:xfrm flipH="1">
                <a:off x="1711568" y="1992923"/>
                <a:ext cx="492369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3C75B186-F13E-FC44-15B9-8C4D8EF7A79F}"/>
                  </a:ext>
                </a:extLst>
              </p:cNvPr>
              <p:cNvCxnSpPr>
                <a:stCxn id="14" idx="1"/>
                <a:endCxn id="7" idx="6"/>
              </p:cNvCxnSpPr>
              <p:nvPr/>
            </p:nvCxnSpPr>
            <p:spPr>
              <a:xfrm flipH="1" flipV="1">
                <a:off x="1711568" y="1992923"/>
                <a:ext cx="3083174" cy="162437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91D8B285-623C-FB73-52BC-D2498FE4FBAE}"/>
                  </a:ext>
                </a:extLst>
              </p:cNvPr>
              <p:cNvCxnSpPr>
                <a:cxnSpLocks/>
                <a:stCxn id="13" idx="2"/>
                <a:endCxn id="8" idx="1"/>
              </p:cNvCxnSpPr>
              <p:nvPr/>
            </p:nvCxnSpPr>
            <p:spPr>
              <a:xfrm rot="5400000" flipH="1">
                <a:off x="1116258" y="2568939"/>
                <a:ext cx="2374656" cy="3610712"/>
              </a:xfrm>
              <a:prstGeom prst="bentConnector4">
                <a:avLst>
                  <a:gd name="adj1" fmla="val -49615"/>
                  <a:gd name="adj2" fmla="val 106331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E5B7B320-2668-3443-B4AF-94E4E6DD8962}"/>
                  </a:ext>
                </a:extLst>
              </p:cNvPr>
              <p:cNvCxnSpPr>
                <a:stCxn id="13" idx="2"/>
                <a:endCxn id="9" idx="1"/>
              </p:cNvCxnSpPr>
              <p:nvPr/>
            </p:nvCxnSpPr>
            <p:spPr>
              <a:xfrm rot="5400000" flipH="1">
                <a:off x="1772323" y="3225004"/>
                <a:ext cx="1062526" cy="3610712"/>
              </a:xfrm>
              <a:prstGeom prst="bentConnector4">
                <a:avLst>
                  <a:gd name="adj1" fmla="val -110884"/>
                  <a:gd name="adj2" fmla="val 106331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5C17943A-2878-93BC-107A-EC938FBF2AA2}"/>
                  </a:ext>
                </a:extLst>
              </p:cNvPr>
              <p:cNvCxnSpPr>
                <a:stCxn id="13" idx="2"/>
                <a:endCxn id="10" idx="1"/>
              </p:cNvCxnSpPr>
              <p:nvPr/>
            </p:nvCxnSpPr>
            <p:spPr>
              <a:xfrm rot="5400000">
                <a:off x="2090861" y="3968992"/>
                <a:ext cx="425450" cy="3610712"/>
              </a:xfrm>
              <a:prstGeom prst="bentConnector4">
                <a:avLst>
                  <a:gd name="adj1" fmla="val 277726"/>
                  <a:gd name="adj2" fmla="val 106331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572BE54-B61E-2F47-24DD-8548BE661CFD}"/>
                </a:ext>
              </a:extLst>
            </p:cNvPr>
            <p:cNvCxnSpPr>
              <a:stCxn id="14" idx="0"/>
            </p:cNvCxnSpPr>
            <p:nvPr/>
          </p:nvCxnSpPr>
          <p:spPr>
            <a:xfrm flipV="1">
              <a:off x="9548219" y="2274781"/>
              <a:ext cx="1623644" cy="75687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4647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DBEC16-1F9A-83E6-6FAB-6DAB6AA5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GB" dirty="0"/>
              <a:t>A fast and efficient </a:t>
            </a:r>
            <a:r>
              <a:rPr lang="en-GB" b="1" dirty="0" err="1"/>
              <a:t>DataFrame</a:t>
            </a:r>
            <a:r>
              <a:rPr lang="en-GB" b="1" dirty="0"/>
              <a:t> </a:t>
            </a:r>
            <a:r>
              <a:rPr lang="en-GB" dirty="0"/>
              <a:t>object for data manipulation;</a:t>
            </a:r>
          </a:p>
          <a:p>
            <a:r>
              <a:rPr lang="en-GB" dirty="0"/>
              <a:t>Tools for </a:t>
            </a:r>
            <a:r>
              <a:rPr lang="en-GB" b="1" dirty="0"/>
              <a:t>reading and writing data </a:t>
            </a:r>
            <a:r>
              <a:rPr lang="en-GB" dirty="0"/>
              <a:t>between different formats (e.g., csv, </a:t>
            </a:r>
            <a:r>
              <a:rPr lang="en-GB" dirty="0" err="1"/>
              <a:t>json</a:t>
            </a:r>
            <a:r>
              <a:rPr lang="en-GB" dirty="0"/>
              <a:t>, xlsx, </a:t>
            </a:r>
            <a:r>
              <a:rPr lang="en-GB" dirty="0" err="1"/>
              <a:t>db</a:t>
            </a:r>
            <a:r>
              <a:rPr lang="en-GB" dirty="0"/>
              <a:t>);</a:t>
            </a:r>
          </a:p>
          <a:p>
            <a:r>
              <a:rPr lang="en-GB" dirty="0"/>
              <a:t>Intelligent label-based </a:t>
            </a:r>
            <a:r>
              <a:rPr lang="en-GB" b="1" dirty="0"/>
              <a:t>slicing, fancy indexing, </a:t>
            </a:r>
            <a:r>
              <a:rPr lang="en-GB" dirty="0"/>
              <a:t>and </a:t>
            </a:r>
            <a:r>
              <a:rPr lang="en-GB" b="1" dirty="0" err="1"/>
              <a:t>subsetting</a:t>
            </a:r>
            <a:r>
              <a:rPr lang="en-GB" b="1" dirty="0"/>
              <a:t> </a:t>
            </a:r>
            <a:r>
              <a:rPr lang="en-GB" dirty="0"/>
              <a:t>of large data;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993248-EC88-7830-2939-24255350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Pandas: Python Data Analysis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C832C-D8DA-865A-A006-151EF63906BD}"/>
              </a:ext>
            </a:extLst>
          </p:cNvPr>
          <p:cNvSpPr txBox="1"/>
          <p:nvPr/>
        </p:nvSpPr>
        <p:spPr>
          <a:xfrm>
            <a:off x="7652887" y="6385211"/>
            <a:ext cx="429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https://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</a:rPr>
              <a:t>pandas.pydata.org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37982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DBEC16-1F9A-83E6-6FAB-6DAB6AA5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 fast and efficient </a:t>
            </a:r>
            <a:r>
              <a:rPr lang="en-GB" b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object for data manipulation;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Tools for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reading and writing data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between different formats (e.g., csv, 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json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, xlsx, 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db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);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Intelligent label-based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slicing, fancy indexing,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and </a:t>
            </a:r>
            <a:r>
              <a:rPr lang="en-GB" b="1" dirty="0" err="1">
                <a:solidFill>
                  <a:schemeClr val="bg2">
                    <a:lumMod val="75000"/>
                  </a:schemeClr>
                </a:solidFill>
              </a:rPr>
              <a:t>subsetting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of large data; </a:t>
            </a:r>
          </a:p>
          <a:p>
            <a:r>
              <a:rPr lang="en-GB" dirty="0"/>
              <a:t>Aggregating of transforming data with a powerful </a:t>
            </a:r>
            <a:r>
              <a:rPr lang="en-GB" b="1" dirty="0"/>
              <a:t>group by </a:t>
            </a:r>
            <a:r>
              <a:rPr lang="en-GB" dirty="0"/>
              <a:t>engine allowing split-apply-combine operations on data sets;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993248-EC88-7830-2939-24255350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Pandas: Python Data Analysis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C832C-D8DA-865A-A006-151EF63906BD}"/>
              </a:ext>
            </a:extLst>
          </p:cNvPr>
          <p:cNvSpPr txBox="1"/>
          <p:nvPr/>
        </p:nvSpPr>
        <p:spPr>
          <a:xfrm>
            <a:off x="7652887" y="6385211"/>
            <a:ext cx="429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https://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</a:rPr>
              <a:t>pandas.pydata.org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7884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DBEC16-1F9A-83E6-6FAB-6DAB6AA5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 fast and efficient </a:t>
            </a:r>
            <a:r>
              <a:rPr lang="en-GB" b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object for data manipulation;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Tools for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reading and writing data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between different formats (e.g., csv, 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json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, xlsx, 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db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);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Intelligent label-based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slicing, fancy indexing,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and </a:t>
            </a:r>
            <a:r>
              <a:rPr lang="en-GB" b="1" dirty="0" err="1">
                <a:solidFill>
                  <a:schemeClr val="bg2">
                    <a:lumMod val="75000"/>
                  </a:schemeClr>
                </a:solidFill>
              </a:rPr>
              <a:t>subsetting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of large data; 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Aggregating of transforming data with a powerful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group by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engine allowing split-apply-combine operations on data sets;</a:t>
            </a:r>
          </a:p>
          <a:p>
            <a:r>
              <a:rPr lang="en-GB" b="1" dirty="0"/>
              <a:t>Time series</a:t>
            </a:r>
            <a:r>
              <a:rPr lang="en-GB" dirty="0"/>
              <a:t>-functionality: data range generation and frequency conversion, moving window statistics, date shifting and lagging;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993248-EC88-7830-2939-24255350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Pandas: Python Data Analysis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C832C-D8DA-865A-A006-151EF63906BD}"/>
              </a:ext>
            </a:extLst>
          </p:cNvPr>
          <p:cNvSpPr txBox="1"/>
          <p:nvPr/>
        </p:nvSpPr>
        <p:spPr>
          <a:xfrm>
            <a:off x="7652887" y="6385211"/>
            <a:ext cx="429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https://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</a:rPr>
              <a:t>pandas.pydata.org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95228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DBEC16-1F9A-83E6-6FAB-6DAB6AA5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 fast and efficient </a:t>
            </a:r>
            <a:r>
              <a:rPr lang="en-GB" b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object for data manipulation;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Tools for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reading and writing data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between different formats (e.g., csv, 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json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, xlsx, 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db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);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Intelligent label-based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slicing, fancy indexing,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and </a:t>
            </a:r>
            <a:r>
              <a:rPr lang="en-GB" b="1" dirty="0" err="1">
                <a:solidFill>
                  <a:schemeClr val="bg2">
                    <a:lumMod val="75000"/>
                  </a:schemeClr>
                </a:solidFill>
              </a:rPr>
              <a:t>subsetting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of large data; 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Aggregating of transforming data with a powerful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group by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engine allowing split-apply-combine operations on data sets;</a:t>
            </a:r>
          </a:p>
          <a:p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Time series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-functionality: data range generation and frequency conversion, moving window statistics, date shifting and lagging;</a:t>
            </a:r>
          </a:p>
          <a:p>
            <a:r>
              <a:rPr lang="en-GB" dirty="0"/>
              <a:t>Highly </a:t>
            </a:r>
            <a:r>
              <a:rPr lang="en-GB" b="1" dirty="0"/>
              <a:t>optimised for performance</a:t>
            </a:r>
            <a:r>
              <a:rPr lang="en-GB" dirty="0"/>
              <a:t>;</a:t>
            </a:r>
          </a:p>
          <a:p>
            <a:r>
              <a:rPr lang="en-GB" u="sng" dirty="0"/>
              <a:t>Already installed if you have Anaconda!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993248-EC88-7830-2939-24255350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Pandas: Python Data Analysis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C832C-D8DA-865A-A006-151EF63906BD}"/>
              </a:ext>
            </a:extLst>
          </p:cNvPr>
          <p:cNvSpPr txBox="1"/>
          <p:nvPr/>
        </p:nvSpPr>
        <p:spPr>
          <a:xfrm>
            <a:off x="7652887" y="6385211"/>
            <a:ext cx="429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https://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</a:rPr>
              <a:t>pandas.pydata.org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8827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01C88-3E54-8952-D1EF-C3C68BA6A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5973" cy="4351338"/>
          </a:xfrm>
        </p:spPr>
        <p:txBody>
          <a:bodyPr/>
          <a:lstStyle/>
          <a:p>
            <a:r>
              <a:rPr lang="en-GB" dirty="0"/>
              <a:t>Check to make sure it is installed by:</a:t>
            </a:r>
          </a:p>
          <a:p>
            <a:pPr lvl="1"/>
            <a:r>
              <a:rPr lang="en-GB" dirty="0"/>
              <a:t>Importing the library;</a:t>
            </a:r>
          </a:p>
          <a:p>
            <a:pPr lvl="1"/>
            <a:r>
              <a:rPr lang="en-GB" dirty="0"/>
              <a:t>Printing the special variable </a:t>
            </a:r>
            <a:r>
              <a:rPr lang="en-GB" i="1" dirty="0"/>
              <a:t>__version__ </a:t>
            </a:r>
            <a:r>
              <a:rPr lang="en-GB" dirty="0"/>
              <a:t>(two underscores _) to confirm.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164255-C364-BB1D-E526-8A1151DA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Pandas: Python Data Analysis Library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79727-C394-531E-F8E4-D762D6DF5D28}"/>
              </a:ext>
            </a:extLst>
          </p:cNvPr>
          <p:cNvGrpSpPr/>
          <p:nvPr/>
        </p:nvGrpSpPr>
        <p:grpSpPr>
          <a:xfrm>
            <a:off x="1540042" y="2662626"/>
            <a:ext cx="4475747" cy="1505113"/>
            <a:chOff x="1540042" y="2662626"/>
            <a:chExt cx="4475747" cy="150511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44F9F4-AB21-573F-D34B-13411E0419DD}"/>
                </a:ext>
              </a:extLst>
            </p:cNvPr>
            <p:cNvSpPr/>
            <p:nvPr/>
          </p:nvSpPr>
          <p:spPr>
            <a:xfrm>
              <a:off x="1540042" y="3031958"/>
              <a:ext cx="4475747" cy="11357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0687B3-0B5F-6A79-F379-DCB71377B114}"/>
                </a:ext>
              </a:extLst>
            </p:cNvPr>
            <p:cNvSpPr txBox="1"/>
            <p:nvPr/>
          </p:nvSpPr>
          <p:spPr>
            <a:xfrm>
              <a:off x="5120640" y="2662626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TOP TIP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6AA53BC-F770-3041-01AA-6136D4515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952" y="1368992"/>
            <a:ext cx="4819048" cy="242673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43343A-95C4-BF02-A3F7-ECFAC7292B95}"/>
              </a:ext>
            </a:extLst>
          </p:cNvPr>
          <p:cNvCxnSpPr/>
          <p:nvPr/>
        </p:nvCxnSpPr>
        <p:spPr>
          <a:xfrm flipV="1">
            <a:off x="4244741" y="2069432"/>
            <a:ext cx="4379495" cy="7122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804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01C88-3E54-8952-D1EF-C3C68BA6A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5973" cy="4351338"/>
          </a:xfrm>
        </p:spPr>
        <p:txBody>
          <a:bodyPr/>
          <a:lstStyle/>
          <a:p>
            <a:r>
              <a:rPr lang="en-GB" dirty="0"/>
              <a:t>Check to make sure it is installed by:</a:t>
            </a:r>
          </a:p>
          <a:p>
            <a:pPr lvl="1"/>
            <a:r>
              <a:rPr lang="en-GB" dirty="0"/>
              <a:t>Importing the library;</a:t>
            </a:r>
          </a:p>
          <a:p>
            <a:pPr lvl="1"/>
            <a:r>
              <a:rPr lang="en-GB" dirty="0"/>
              <a:t>Printing the special variable </a:t>
            </a:r>
            <a:r>
              <a:rPr lang="en-GB" i="1" dirty="0"/>
              <a:t>__version__ </a:t>
            </a:r>
            <a:r>
              <a:rPr lang="en-GB" dirty="0"/>
              <a:t>(two underscores _) to confirm.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164255-C364-BB1D-E526-8A1151DA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Pandas: Python Data Analysis Library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B28660-B651-9174-23B9-84CCAB692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952" y="1368992"/>
            <a:ext cx="4819048" cy="242673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CF0CD3-2C8B-CBF7-34E6-2F98FAE47425}"/>
              </a:ext>
            </a:extLst>
          </p:cNvPr>
          <p:cNvCxnSpPr>
            <a:cxnSpLocks/>
          </p:cNvCxnSpPr>
          <p:nvPr/>
        </p:nvCxnSpPr>
        <p:spPr>
          <a:xfrm flipV="1">
            <a:off x="4406767" y="2582359"/>
            <a:ext cx="4217469" cy="502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DFA37A-EC8D-1B0F-502F-C65C5DE2C1FC}"/>
              </a:ext>
            </a:extLst>
          </p:cNvPr>
          <p:cNvGrpSpPr/>
          <p:nvPr/>
        </p:nvGrpSpPr>
        <p:grpSpPr>
          <a:xfrm>
            <a:off x="1540042" y="2662626"/>
            <a:ext cx="4475747" cy="1505113"/>
            <a:chOff x="1540042" y="2662626"/>
            <a:chExt cx="4475747" cy="150511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248628-AF1D-1E83-0A88-553FF1C71882}"/>
                </a:ext>
              </a:extLst>
            </p:cNvPr>
            <p:cNvSpPr/>
            <p:nvPr/>
          </p:nvSpPr>
          <p:spPr>
            <a:xfrm>
              <a:off x="1540042" y="3031958"/>
              <a:ext cx="4475747" cy="11357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0B9661-B69B-8D68-CCFA-66050ABA056F}"/>
                </a:ext>
              </a:extLst>
            </p:cNvPr>
            <p:cNvSpPr txBox="1"/>
            <p:nvPr/>
          </p:nvSpPr>
          <p:spPr>
            <a:xfrm>
              <a:off x="5120640" y="2662626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5371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01C88-3E54-8952-D1EF-C3C68BA6A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5973" cy="4351338"/>
          </a:xfrm>
        </p:spPr>
        <p:txBody>
          <a:bodyPr/>
          <a:lstStyle/>
          <a:p>
            <a:r>
              <a:rPr lang="en-GB" dirty="0"/>
              <a:t>Check to make sure it is installed by:</a:t>
            </a:r>
          </a:p>
          <a:p>
            <a:pPr lvl="1"/>
            <a:r>
              <a:rPr lang="en-GB" dirty="0"/>
              <a:t>Importing the library;</a:t>
            </a:r>
          </a:p>
          <a:p>
            <a:pPr lvl="1"/>
            <a:r>
              <a:rPr lang="en-GB" dirty="0"/>
              <a:t>Printing the special variable </a:t>
            </a:r>
            <a:r>
              <a:rPr lang="en-GB" i="1" dirty="0"/>
              <a:t>__version__ </a:t>
            </a:r>
            <a:r>
              <a:rPr lang="en-GB" dirty="0"/>
              <a:t>(two underscores _) to confirm.</a:t>
            </a:r>
          </a:p>
          <a:p>
            <a:r>
              <a:rPr lang="en-GB" dirty="0"/>
              <a:t>If it is not installed, you will receive a </a:t>
            </a:r>
            <a:r>
              <a:rPr lang="en-GB" i="1" dirty="0" err="1"/>
              <a:t>ModuleNotFoundError</a:t>
            </a:r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164255-C364-BB1D-E526-8A1151DA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Pandas: Python Data Analysis Library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B28660-B651-9174-23B9-84CCAB692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952" y="1368992"/>
            <a:ext cx="4819048" cy="24267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D81126-2C1B-4D48-6CC1-567852F2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558" y="5570159"/>
            <a:ext cx="8750167" cy="128784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3B4C55B-207C-CBE6-501C-9F56329C9E2E}"/>
              </a:ext>
            </a:extLst>
          </p:cNvPr>
          <p:cNvCxnSpPr>
            <a:cxnSpLocks/>
          </p:cNvCxnSpPr>
          <p:nvPr/>
        </p:nvCxnSpPr>
        <p:spPr>
          <a:xfrm>
            <a:off x="1568919" y="4995512"/>
            <a:ext cx="616016" cy="1597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94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24F4D8-78C0-6797-FB7A-06DB190F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dirty_data.csv</a:t>
            </a:r>
            <a:endParaRPr lang="en-GB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0CFB62E-D58B-E490-42DB-8CCEECE560A8}"/>
              </a:ext>
            </a:extLst>
          </p:cNvPr>
          <p:cNvSpPr txBox="1">
            <a:spLocks/>
          </p:cNvSpPr>
          <p:nvPr/>
        </p:nvSpPr>
        <p:spPr>
          <a:xfrm>
            <a:off x="838200" y="1411738"/>
            <a:ext cx="10904621" cy="1773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Download Lecture_1.zip, move it from your downloads folder to your DSRM folder, and into a Week 2 subfolder.</a:t>
            </a:r>
          </a:p>
          <a:p>
            <a:r>
              <a:rPr lang="en-GB" dirty="0"/>
              <a:t>Extract it (right click and click extract all).</a:t>
            </a:r>
          </a:p>
          <a:p>
            <a:r>
              <a:rPr lang="en-GB" dirty="0"/>
              <a:t>Open </a:t>
            </a:r>
            <a:r>
              <a:rPr lang="en-GB" dirty="0" err="1"/>
              <a:t>dirty_data.csv</a:t>
            </a:r>
            <a:r>
              <a:rPr lang="en-GB" dirty="0"/>
              <a:t> in Excel.</a:t>
            </a:r>
          </a:p>
          <a:p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2DB890-D9F0-BFBC-7D78-2F53F0434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596554"/>
            <a:ext cx="12192000" cy="223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23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24F4D8-78C0-6797-FB7A-06DB190F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dirty_data.csv</a:t>
            </a:r>
            <a:endParaRPr lang="en-GB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0CFB62E-D58B-E490-42DB-8CCEECE560A8}"/>
              </a:ext>
            </a:extLst>
          </p:cNvPr>
          <p:cNvSpPr txBox="1">
            <a:spLocks/>
          </p:cNvSpPr>
          <p:nvPr/>
        </p:nvSpPr>
        <p:spPr>
          <a:xfrm>
            <a:off x="838200" y="1411738"/>
            <a:ext cx="10904621" cy="1773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Download Lecture_1.zip, move it from your downloads folder to your DSRM folder, and into a Week 2 subfolder.</a:t>
            </a:r>
          </a:p>
          <a:p>
            <a:r>
              <a:rPr lang="en-GB" dirty="0"/>
              <a:t>Extract it (right click and click extract all).</a:t>
            </a:r>
          </a:p>
          <a:p>
            <a:r>
              <a:rPr lang="en-GB" dirty="0"/>
              <a:t>Open </a:t>
            </a:r>
            <a:r>
              <a:rPr lang="en-GB" dirty="0" err="1"/>
              <a:t>dirty_data.csv</a:t>
            </a:r>
            <a:r>
              <a:rPr lang="en-GB" dirty="0"/>
              <a:t> in Excel.</a:t>
            </a:r>
          </a:p>
          <a:p>
            <a:r>
              <a:rPr lang="en-GB" dirty="0"/>
              <a:t>This is structured data - why?</a:t>
            </a:r>
          </a:p>
          <a:p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2DB890-D9F0-BFBC-7D78-2F53F0434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596554"/>
            <a:ext cx="12192000" cy="223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5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24F4D8-78C0-6797-FB7A-06DB190F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dirty_data.csv</a:t>
            </a:r>
            <a:endParaRPr lang="en-GB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0CFB62E-D58B-E490-42DB-8CCEECE560A8}"/>
              </a:ext>
            </a:extLst>
          </p:cNvPr>
          <p:cNvSpPr txBox="1">
            <a:spLocks/>
          </p:cNvSpPr>
          <p:nvPr/>
        </p:nvSpPr>
        <p:spPr>
          <a:xfrm>
            <a:off x="838200" y="1411738"/>
            <a:ext cx="10904621" cy="1773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Download Lecture_1.zip, move it from your downloads folder to your DSRM folder, and into a Week 2 subfolder.</a:t>
            </a:r>
          </a:p>
          <a:p>
            <a:r>
              <a:rPr lang="en-GB" dirty="0"/>
              <a:t>Extract it (right click and click extract all).</a:t>
            </a:r>
          </a:p>
          <a:p>
            <a:r>
              <a:rPr lang="en-GB" dirty="0"/>
              <a:t>Open </a:t>
            </a:r>
            <a:r>
              <a:rPr lang="en-GB" dirty="0" err="1"/>
              <a:t>dirty_data.csv</a:t>
            </a:r>
            <a:r>
              <a:rPr lang="en-GB" dirty="0"/>
              <a:t> in Excel.</a:t>
            </a:r>
          </a:p>
          <a:p>
            <a:r>
              <a:rPr lang="en-GB" dirty="0"/>
              <a:t>This is structured data - why?</a:t>
            </a:r>
          </a:p>
          <a:p>
            <a:pPr lvl="1"/>
            <a:r>
              <a:rPr lang="en-GB" dirty="0"/>
              <a:t>Categorical data: things with no order. </a:t>
            </a:r>
          </a:p>
          <a:p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2DB890-D9F0-BFBC-7D78-2F53F0434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596554"/>
            <a:ext cx="12192000" cy="223857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36622A-7771-802C-EDAA-3A16D7BAE45E}"/>
              </a:ext>
            </a:extLst>
          </p:cNvPr>
          <p:cNvCxnSpPr>
            <a:cxnSpLocks/>
          </p:cNvCxnSpPr>
          <p:nvPr/>
        </p:nvCxnSpPr>
        <p:spPr>
          <a:xfrm flipH="1">
            <a:off x="3667225" y="4155462"/>
            <a:ext cx="154004" cy="448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062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24F4D8-78C0-6797-FB7A-06DB190F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dirty_data.csv</a:t>
            </a:r>
            <a:endParaRPr lang="en-GB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0CFB62E-D58B-E490-42DB-8CCEECE560A8}"/>
              </a:ext>
            </a:extLst>
          </p:cNvPr>
          <p:cNvSpPr txBox="1">
            <a:spLocks/>
          </p:cNvSpPr>
          <p:nvPr/>
        </p:nvSpPr>
        <p:spPr>
          <a:xfrm>
            <a:off x="838200" y="1411738"/>
            <a:ext cx="10904621" cy="17730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Download Lecture_2.zip, move it from your downloads folder to your DSRM folder, and into a Week 2 subfolder.</a:t>
            </a:r>
          </a:p>
          <a:p>
            <a:r>
              <a:rPr lang="en-GB" dirty="0"/>
              <a:t>Extract it (right click and click extract all).</a:t>
            </a:r>
          </a:p>
          <a:p>
            <a:r>
              <a:rPr lang="en-GB" dirty="0"/>
              <a:t>Open </a:t>
            </a:r>
            <a:r>
              <a:rPr lang="en-GB" dirty="0" err="1"/>
              <a:t>dirty_data.csv</a:t>
            </a:r>
            <a:r>
              <a:rPr lang="en-GB" dirty="0"/>
              <a:t> in Excel.</a:t>
            </a:r>
          </a:p>
          <a:p>
            <a:r>
              <a:rPr lang="en-GB" dirty="0"/>
              <a:t>This is structured data - why?</a:t>
            </a:r>
          </a:p>
          <a:p>
            <a:pPr lvl="1"/>
            <a:r>
              <a:rPr lang="en-GB" dirty="0"/>
              <a:t>Categorical data: things with no order.</a:t>
            </a:r>
          </a:p>
          <a:p>
            <a:pPr lvl="1"/>
            <a:r>
              <a:rPr lang="en-GB" dirty="0"/>
              <a:t>Continuous data: numerical data.</a:t>
            </a:r>
          </a:p>
          <a:p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2DB890-D9F0-BFBC-7D78-2F53F0434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596554"/>
            <a:ext cx="12192000" cy="223857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938374-4E51-8BD9-AF95-67ACAAB08822}"/>
              </a:ext>
            </a:extLst>
          </p:cNvPr>
          <p:cNvCxnSpPr>
            <a:cxnSpLocks/>
          </p:cNvCxnSpPr>
          <p:nvPr/>
        </p:nvCxnSpPr>
        <p:spPr>
          <a:xfrm>
            <a:off x="5707781" y="4379495"/>
            <a:ext cx="3253339" cy="2170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453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FA4CBE2-740A-B5EC-51CE-AD304EDC0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549"/>
          <a:stretch/>
        </p:blipFill>
        <p:spPr>
          <a:xfrm>
            <a:off x="2419150" y="3587153"/>
            <a:ext cx="9772850" cy="2437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52" y="1578726"/>
            <a:ext cx="5533724" cy="4786931"/>
          </a:xfrm>
        </p:spPr>
        <p:txBody>
          <a:bodyPr/>
          <a:lstStyle/>
          <a:p>
            <a:r>
              <a:rPr lang="en-GB" dirty="0"/>
              <a:t>We need to read the data into our notebook so we can wrangle and clean it.</a:t>
            </a:r>
          </a:p>
          <a:p>
            <a:r>
              <a:rPr lang="en-GB" dirty="0"/>
              <a:t>We use the </a:t>
            </a:r>
            <a:r>
              <a:rPr lang="en-GB" i="1" dirty="0"/>
              <a:t>pandas</a:t>
            </a:r>
            <a:r>
              <a:rPr lang="en-GB" dirty="0"/>
              <a:t> function </a:t>
            </a:r>
            <a:r>
              <a:rPr lang="en-GB" i="1" dirty="0"/>
              <a:t>.</a:t>
            </a:r>
            <a:r>
              <a:rPr lang="en-GB" i="1" dirty="0" err="1"/>
              <a:t>read_csv</a:t>
            </a:r>
            <a:r>
              <a:rPr lang="en-GB" i="1" dirty="0"/>
              <a:t>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978FAF-914D-A2EE-35D6-EFED233B1D0A}"/>
              </a:ext>
            </a:extLst>
          </p:cNvPr>
          <p:cNvCxnSpPr>
            <a:cxnSpLocks/>
          </p:cNvCxnSpPr>
          <p:nvPr/>
        </p:nvCxnSpPr>
        <p:spPr>
          <a:xfrm>
            <a:off x="1628675" y="3755042"/>
            <a:ext cx="9701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01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FA4CBE2-740A-B5EC-51CE-AD304EDC0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236"/>
          <a:stretch/>
        </p:blipFill>
        <p:spPr>
          <a:xfrm>
            <a:off x="2419150" y="3587153"/>
            <a:ext cx="9772850" cy="139873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52" y="1578726"/>
            <a:ext cx="5533724" cy="4786931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need to read the data into our notebook so we can wrangle and clean it.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function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read_csv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978FAF-914D-A2EE-35D6-EFED233B1D0A}"/>
              </a:ext>
            </a:extLst>
          </p:cNvPr>
          <p:cNvCxnSpPr>
            <a:cxnSpLocks/>
          </p:cNvCxnSpPr>
          <p:nvPr/>
        </p:nvCxnSpPr>
        <p:spPr>
          <a:xfrm>
            <a:off x="1628675" y="3755042"/>
            <a:ext cx="9701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154179-9356-B733-EC78-FCBE7AA00B5B}"/>
              </a:ext>
            </a:extLst>
          </p:cNvPr>
          <p:cNvCxnSpPr>
            <a:cxnSpLocks/>
          </p:cNvCxnSpPr>
          <p:nvPr/>
        </p:nvCxnSpPr>
        <p:spPr>
          <a:xfrm flipH="1">
            <a:off x="3339966" y="1802650"/>
            <a:ext cx="3686476" cy="2169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6A23F00C-A30C-24A2-6578-B259ADBBAB65}"/>
              </a:ext>
            </a:extLst>
          </p:cNvPr>
          <p:cNvSpPr txBox="1">
            <a:spLocks/>
          </p:cNvSpPr>
          <p:nvPr/>
        </p:nvSpPr>
        <p:spPr>
          <a:xfrm>
            <a:off x="6778191" y="1448284"/>
            <a:ext cx="5533724" cy="4786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Print the column names and the first 5 entries (using the python function </a:t>
            </a:r>
            <a:r>
              <a:rPr lang="en-GB" i="1" dirty="0"/>
              <a:t>.head()</a:t>
            </a:r>
            <a:r>
              <a:rPr lang="en-GB" dirty="0"/>
              <a:t>) to cross reference against what you can see in the Excel spreadsheet.</a:t>
            </a:r>
          </a:p>
        </p:txBody>
      </p:sp>
    </p:spTree>
    <p:extLst>
      <p:ext uri="{BB962C8B-B14F-4D97-AF65-F5344CB8AC3E}">
        <p14:creationId xmlns:p14="http://schemas.microsoft.com/office/powerpoint/2010/main" val="385329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FA4CBE2-740A-B5EC-51CE-AD304EDC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150" y="3587153"/>
            <a:ext cx="9772850" cy="327084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52" y="1578726"/>
            <a:ext cx="5533724" cy="4786931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need to read the data into our notebook so we can wrangle and clean it.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function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read_csv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978FAF-914D-A2EE-35D6-EFED233B1D0A}"/>
              </a:ext>
            </a:extLst>
          </p:cNvPr>
          <p:cNvCxnSpPr>
            <a:cxnSpLocks/>
          </p:cNvCxnSpPr>
          <p:nvPr/>
        </p:nvCxnSpPr>
        <p:spPr>
          <a:xfrm>
            <a:off x="1628675" y="3755042"/>
            <a:ext cx="9701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EF0F6E-66E1-21DD-8E7E-96E285A4ED3B}"/>
              </a:ext>
            </a:extLst>
          </p:cNvPr>
          <p:cNvCxnSpPr>
            <a:cxnSpLocks/>
          </p:cNvCxnSpPr>
          <p:nvPr/>
        </p:nvCxnSpPr>
        <p:spPr>
          <a:xfrm flipH="1">
            <a:off x="3403935" y="2616803"/>
            <a:ext cx="3622507" cy="26057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6A23F00C-A30C-24A2-6578-B259ADBBAB65}"/>
              </a:ext>
            </a:extLst>
          </p:cNvPr>
          <p:cNvSpPr txBox="1">
            <a:spLocks/>
          </p:cNvSpPr>
          <p:nvPr/>
        </p:nvSpPr>
        <p:spPr>
          <a:xfrm>
            <a:off x="6778191" y="1448284"/>
            <a:ext cx="5533724" cy="4786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Print the column names and the first 5 entries (using the python function </a:t>
            </a:r>
            <a:r>
              <a:rPr lang="en-GB" i="1" dirty="0"/>
              <a:t>.head()</a:t>
            </a:r>
            <a:r>
              <a:rPr lang="en-GB" dirty="0"/>
              <a:t>) to cross reference against what you can see in the Excel spreadsheet.</a:t>
            </a:r>
          </a:p>
        </p:txBody>
      </p:sp>
    </p:spTree>
    <p:extLst>
      <p:ext uri="{BB962C8B-B14F-4D97-AF65-F5344CB8AC3E}">
        <p14:creationId xmlns:p14="http://schemas.microsoft.com/office/powerpoint/2010/main" val="2865519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DC8F4D9-D370-5576-8B0A-7FE1A235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101" y="1357258"/>
            <a:ext cx="7846899" cy="278795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57" y="1594618"/>
            <a:ext cx="4245543" cy="4786931"/>
          </a:xfrm>
        </p:spPr>
        <p:txBody>
          <a:bodyPr/>
          <a:lstStyle/>
          <a:p>
            <a:r>
              <a:rPr lang="en-GB" dirty="0"/>
              <a:t>First things first, let’s get some basic </a:t>
            </a:r>
            <a:r>
              <a:rPr lang="en-GB" i="1" dirty="0"/>
              <a:t>info</a:t>
            </a:r>
            <a:r>
              <a:rPr lang="en-GB" dirty="0"/>
              <a:t>rmation about the </a:t>
            </a:r>
            <a:r>
              <a:rPr lang="en-GB" i="1" dirty="0" err="1"/>
              <a:t>dataframe</a:t>
            </a:r>
            <a:r>
              <a:rPr lang="en-GB" i="1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info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3707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DC8F4D9-D370-5576-8B0A-7FE1A235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101" y="1357258"/>
            <a:ext cx="7846899" cy="278795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57" y="1594618"/>
            <a:ext cx="4245543" cy="4786931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First things first, let’s get some basic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info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rmation about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/>
              <a:t>We have 86 rows.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info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520603-9383-1AA7-7173-94D4B498ACFA}"/>
              </a:ext>
            </a:extLst>
          </p:cNvPr>
          <p:cNvCxnSpPr/>
          <p:nvPr/>
        </p:nvCxnSpPr>
        <p:spPr>
          <a:xfrm flipV="1">
            <a:off x="3176337" y="2281187"/>
            <a:ext cx="1168764" cy="875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603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DC8F4D9-D370-5576-8B0A-7FE1A235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101" y="1357258"/>
            <a:ext cx="7846899" cy="278795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57" y="1594618"/>
            <a:ext cx="4245543" cy="4786931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First things first, let’s get some basic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info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rmation about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86 rows.</a:t>
            </a:r>
          </a:p>
          <a:p>
            <a:r>
              <a:rPr lang="en-GB" i="1" dirty="0"/>
              <a:t>Non-Null Count </a:t>
            </a:r>
            <a:r>
              <a:rPr lang="en-GB" dirty="0"/>
              <a:t>tells us how many rows are in a specific column are not </a:t>
            </a:r>
            <a:r>
              <a:rPr lang="en-GB" i="1" dirty="0" err="1"/>
              <a:t>NaN</a:t>
            </a:r>
            <a:r>
              <a:rPr lang="en-GB" i="1" dirty="0"/>
              <a:t>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info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F28891-A02E-7019-34DD-C04B9E1658D3}"/>
              </a:ext>
            </a:extLst>
          </p:cNvPr>
          <p:cNvCxnSpPr/>
          <p:nvPr/>
        </p:nvCxnSpPr>
        <p:spPr>
          <a:xfrm flipV="1">
            <a:off x="3984859" y="2656573"/>
            <a:ext cx="6516303" cy="1145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260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DC8F4D9-D370-5576-8B0A-7FE1A235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101" y="1357258"/>
            <a:ext cx="7846899" cy="278795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57" y="1594618"/>
            <a:ext cx="4245543" cy="4786931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First things first, let’s get some basic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info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rmation about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86 rows.</a:t>
            </a: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Non-Null Count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tells us how many rows are in a specific column are not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i="1" dirty="0" err="1"/>
              <a:t>Dtype</a:t>
            </a:r>
            <a:r>
              <a:rPr lang="en-GB" i="1" dirty="0"/>
              <a:t> </a:t>
            </a:r>
            <a:r>
              <a:rPr lang="en-GB" dirty="0"/>
              <a:t>is the type of the column entries – </a:t>
            </a:r>
            <a:r>
              <a:rPr lang="en-GB" i="1" dirty="0"/>
              <a:t>pandas </a:t>
            </a:r>
            <a:r>
              <a:rPr lang="en-GB" dirty="0"/>
              <a:t>tries to automatically detect this.</a:t>
            </a:r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info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1B2079-122F-F9FA-64E6-2D2E9E855B09}"/>
              </a:ext>
            </a:extLst>
          </p:cNvPr>
          <p:cNvGrpSpPr/>
          <p:nvPr/>
        </p:nvGrpSpPr>
        <p:grpSpPr>
          <a:xfrm>
            <a:off x="11296851" y="2035161"/>
            <a:ext cx="895149" cy="1795693"/>
            <a:chOff x="12302290" y="3247945"/>
            <a:chExt cx="895149" cy="179569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84FE82-4210-9D97-C4A1-9091FFF1F564}"/>
                </a:ext>
              </a:extLst>
            </p:cNvPr>
            <p:cNvSpPr/>
            <p:nvPr/>
          </p:nvSpPr>
          <p:spPr>
            <a:xfrm>
              <a:off x="12603881" y="3628723"/>
              <a:ext cx="593558" cy="141491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58B18D-13E1-FD3E-CD6F-F2974F1E57EE}"/>
                </a:ext>
              </a:extLst>
            </p:cNvPr>
            <p:cNvSpPr txBox="1"/>
            <p:nvPr/>
          </p:nvSpPr>
          <p:spPr>
            <a:xfrm>
              <a:off x="12302290" y="3247945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B30AECB-212A-6EF3-FCC8-2D35E469DF01}"/>
              </a:ext>
            </a:extLst>
          </p:cNvPr>
          <p:cNvSpPr txBox="1">
            <a:spLocks/>
          </p:cNvSpPr>
          <p:nvPr/>
        </p:nvSpPr>
        <p:spPr>
          <a:xfrm>
            <a:off x="4419600" y="6077519"/>
            <a:ext cx="6187440" cy="13940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i="1" dirty="0"/>
              <a:t>Object </a:t>
            </a:r>
            <a:r>
              <a:rPr lang="en-GB" dirty="0"/>
              <a:t>is the </a:t>
            </a:r>
            <a:r>
              <a:rPr lang="en-GB" i="1" dirty="0"/>
              <a:t>pandas </a:t>
            </a:r>
            <a:r>
              <a:rPr lang="en-GB" i="1" dirty="0" err="1"/>
              <a:t>dtype</a:t>
            </a:r>
            <a:r>
              <a:rPr lang="en-GB" i="1" dirty="0"/>
              <a:t> </a:t>
            </a:r>
            <a:r>
              <a:rPr lang="en-GB" dirty="0"/>
              <a:t>for </a:t>
            </a:r>
            <a:r>
              <a:rPr lang="en-GB" i="1" dirty="0"/>
              <a:t>strings.</a:t>
            </a:r>
          </a:p>
          <a:p>
            <a:endParaRPr lang="en-GB" i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0D11B0-4484-605A-3E11-0F3AEFA8578A}"/>
              </a:ext>
            </a:extLst>
          </p:cNvPr>
          <p:cNvCxnSpPr/>
          <p:nvPr/>
        </p:nvCxnSpPr>
        <p:spPr>
          <a:xfrm flipV="1">
            <a:off x="4081112" y="2839453"/>
            <a:ext cx="7363326" cy="2695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681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DC8F4D9-D370-5576-8B0A-7FE1A235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101" y="1357258"/>
            <a:ext cx="7846899" cy="278795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57" y="1594618"/>
            <a:ext cx="4245543" cy="4786931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First things first, let’s get some basic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info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rmation about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86 rows.</a:t>
            </a: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Non-Null Count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tells us how many rows are in a specific column are not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Dtype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is the type of the column entries –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tries to automatically detect this.</a:t>
            </a:r>
            <a:endParaRPr lang="en-GB"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info</a:t>
            </a:r>
            <a:endParaRPr lang="en-GB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92D63DF-40B1-EF87-DD74-A09447F9B2EF}"/>
              </a:ext>
            </a:extLst>
          </p:cNvPr>
          <p:cNvSpPr txBox="1">
            <a:spLocks/>
          </p:cNvSpPr>
          <p:nvPr/>
        </p:nvSpPr>
        <p:spPr>
          <a:xfrm>
            <a:off x="4419600" y="4566353"/>
            <a:ext cx="6187440" cy="13940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Object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is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dtype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for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strings.</a:t>
            </a:r>
          </a:p>
          <a:p>
            <a:r>
              <a:rPr lang="en-GB" dirty="0"/>
              <a:t>We can see that there some columns that have </a:t>
            </a:r>
            <a:r>
              <a:rPr lang="en-GB" i="1" dirty="0" err="1"/>
              <a:t>NaN</a:t>
            </a:r>
            <a:r>
              <a:rPr lang="en-GB" dirty="0"/>
              <a:t> entries, we will need to communicate this back to the data collector. </a:t>
            </a:r>
          </a:p>
          <a:p>
            <a:endParaRPr lang="en-GB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CE20A3-E163-EFFB-259E-9B2AB1407870}"/>
              </a:ext>
            </a:extLst>
          </p:cNvPr>
          <p:cNvCxnSpPr/>
          <p:nvPr/>
        </p:nvCxnSpPr>
        <p:spPr>
          <a:xfrm flipV="1">
            <a:off x="10212404" y="3965608"/>
            <a:ext cx="481263" cy="1463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2875CC7-A7CE-0940-0FEC-3521D3BA1F71}"/>
              </a:ext>
            </a:extLst>
          </p:cNvPr>
          <p:cNvSpPr/>
          <p:nvPr/>
        </p:nvSpPr>
        <p:spPr>
          <a:xfrm>
            <a:off x="10607040" y="2772076"/>
            <a:ext cx="827773" cy="106840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70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57" y="1594618"/>
            <a:ext cx="7478027" cy="4786931"/>
          </a:xfrm>
        </p:spPr>
        <p:txBody>
          <a:bodyPr/>
          <a:lstStyle/>
          <a:p>
            <a:r>
              <a:rPr lang="en-GB" i="1" dirty="0"/>
              <a:t>Describe </a:t>
            </a:r>
            <a:r>
              <a:rPr lang="en-GB" dirty="0"/>
              <a:t>gets statistical information about the columns, so we need to make sure the </a:t>
            </a:r>
            <a:r>
              <a:rPr lang="en-GB" i="1" dirty="0" err="1"/>
              <a:t>dtype</a:t>
            </a:r>
            <a:r>
              <a:rPr lang="en-GB" i="1" dirty="0"/>
              <a:t> </a:t>
            </a:r>
            <a:r>
              <a:rPr lang="en-GB" dirty="0"/>
              <a:t>of each </a:t>
            </a:r>
            <a:r>
              <a:rPr lang="en-GB" i="1" dirty="0"/>
              <a:t>series </a:t>
            </a:r>
            <a:r>
              <a:rPr lang="en-GB" dirty="0"/>
              <a:t>(the </a:t>
            </a:r>
            <a:r>
              <a:rPr lang="en-GB" i="1" dirty="0"/>
              <a:t>pandas </a:t>
            </a:r>
            <a:r>
              <a:rPr lang="en-GB" dirty="0"/>
              <a:t>name for a column) is correct.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describe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3E46D-9CD2-744C-8187-96CB7824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742" y="1330292"/>
            <a:ext cx="2332258" cy="405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28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57" y="1594618"/>
            <a:ext cx="7478027" cy="4786931"/>
          </a:xfrm>
        </p:spPr>
        <p:txBody>
          <a:bodyPr/>
          <a:lstStyle/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Describe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gets statistical information about the columns, so we need to make sure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dtype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of each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series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(the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name for a column) is correct. </a:t>
            </a:r>
          </a:p>
          <a:p>
            <a:r>
              <a:rPr lang="en-GB" dirty="0"/>
              <a:t>Where is height or commute time?</a:t>
            </a:r>
          </a:p>
          <a:p>
            <a:r>
              <a:rPr lang="en-GB" dirty="0"/>
              <a:t>Let us come back to this when we have cleaned the data!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describe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3E46D-9CD2-744C-8187-96CB7824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742" y="1330292"/>
            <a:ext cx="2332258" cy="405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27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49591"/>
            <a:ext cx="5601903" cy="4351338"/>
          </a:xfrm>
        </p:spPr>
        <p:txBody>
          <a:bodyPr/>
          <a:lstStyle/>
          <a:p>
            <a:r>
              <a:rPr lang="en-GB" dirty="0"/>
              <a:t>Wrangling </a:t>
            </a:r>
          </a:p>
          <a:p>
            <a:pPr lvl="1"/>
            <a:r>
              <a:rPr lang="en-GB" dirty="0"/>
              <a:t>seeks to remove that risk by ensuring data is in a reliable state before it's analysed and leveraged.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9165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49591"/>
            <a:ext cx="5601903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Wrangling 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seeks to remove that risk by ensuring data is in a reliable state before it's analysed and leveraged.</a:t>
            </a:r>
          </a:p>
          <a:p>
            <a:r>
              <a:rPr lang="en-GB" dirty="0"/>
              <a:t>This data was downloaded straight from an online form, so we need to do a little bit of wrangling!</a:t>
            </a:r>
          </a:p>
          <a:p>
            <a:r>
              <a:rPr lang="en-GB" dirty="0"/>
              <a:t>What might need wrangling?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A5337-72E7-C021-13AD-102691640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" y="5380523"/>
            <a:ext cx="12180610" cy="1477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0385E7-AD91-48C9-98D7-F7B4BDB19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0" y="1294957"/>
            <a:ext cx="44450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49591"/>
            <a:ext cx="5601903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Wrangling 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seeks to remove that risk by ensuring data is in a reliable state before it's analysed and leveraged.</a:t>
            </a:r>
          </a:p>
          <a:p>
            <a:r>
              <a:rPr lang="en-GB" dirty="0"/>
              <a:t>This data was downloaded straight from an online form, so we need to do a little bit of wrangling!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A5337-72E7-C021-13AD-102691640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" y="5380523"/>
            <a:ext cx="12180610" cy="1477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0385E7-AD91-48C9-98D7-F7B4BDB19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0" y="1294957"/>
            <a:ext cx="4445000" cy="41402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648450F-1AC1-E583-6BEA-7084166D60EC}"/>
              </a:ext>
            </a:extLst>
          </p:cNvPr>
          <p:cNvSpPr/>
          <p:nvPr/>
        </p:nvSpPr>
        <p:spPr>
          <a:xfrm>
            <a:off x="972152" y="5813659"/>
            <a:ext cx="11059427" cy="30560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397AA3-8FA2-89B2-622A-66DD666A4FFA}"/>
              </a:ext>
            </a:extLst>
          </p:cNvPr>
          <p:cNvSpPr/>
          <p:nvPr/>
        </p:nvSpPr>
        <p:spPr>
          <a:xfrm>
            <a:off x="10183528" y="5033118"/>
            <a:ext cx="508535" cy="30560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DB94BB-F326-1D45-1F04-BC54D54CF1D5}"/>
              </a:ext>
            </a:extLst>
          </p:cNvPr>
          <p:cNvSpPr/>
          <p:nvPr/>
        </p:nvSpPr>
        <p:spPr>
          <a:xfrm>
            <a:off x="8155967" y="5042297"/>
            <a:ext cx="508535" cy="30560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90FCB-8A6B-0AF5-A696-D4A8E1876C31}"/>
              </a:ext>
            </a:extLst>
          </p:cNvPr>
          <p:cNvSpPr/>
          <p:nvPr/>
        </p:nvSpPr>
        <p:spPr>
          <a:xfrm>
            <a:off x="8155967" y="3886108"/>
            <a:ext cx="508535" cy="30560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869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989927C-0C23-8866-C2D8-D7A2EB8A6C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799"/>
          <a:stretch/>
        </p:blipFill>
        <p:spPr>
          <a:xfrm>
            <a:off x="0" y="4223758"/>
            <a:ext cx="12192000" cy="124339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991"/>
            <a:ext cx="5533724" cy="4351338"/>
          </a:xfrm>
        </p:spPr>
        <p:txBody>
          <a:bodyPr/>
          <a:lstStyle/>
          <a:p>
            <a:r>
              <a:rPr lang="en-GB" dirty="0"/>
              <a:t>We need to tell </a:t>
            </a:r>
            <a:r>
              <a:rPr lang="en-GB" i="1" dirty="0"/>
              <a:t>pandas </a:t>
            </a:r>
            <a:r>
              <a:rPr lang="en-GB" dirty="0"/>
              <a:t>how to rename them.</a:t>
            </a:r>
          </a:p>
          <a:p>
            <a:r>
              <a:rPr lang="en-GB" dirty="0"/>
              <a:t>We use the </a:t>
            </a:r>
            <a:r>
              <a:rPr lang="en-GB" i="1" dirty="0"/>
              <a:t>dictionary</a:t>
            </a:r>
            <a:r>
              <a:rPr lang="en-GB" dirty="0"/>
              <a:t> data structure for this </a:t>
            </a:r>
            <a:r>
              <a:rPr lang="en-GB" i="1" dirty="0"/>
              <a:t>{key : value}</a:t>
            </a:r>
          </a:p>
          <a:p>
            <a:r>
              <a:rPr lang="en-GB" i="1" dirty="0"/>
              <a:t>{current column name : new column name}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r>
              <a:rPr lang="en-GB" dirty="0"/>
              <a:t>: column names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5F96378C-A7EB-D0A7-C10C-8A30C349A098}"/>
              </a:ext>
            </a:extLst>
          </p:cNvPr>
          <p:cNvSpPr txBox="1">
            <a:spLocks/>
          </p:cNvSpPr>
          <p:nvPr/>
        </p:nvSpPr>
        <p:spPr>
          <a:xfrm>
            <a:off x="6371924" y="1559949"/>
            <a:ext cx="5533724" cy="1697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77043F4-D0EC-A6D0-6BB6-75E239A589FE}"/>
              </a:ext>
            </a:extLst>
          </p:cNvPr>
          <p:cNvSpPr txBox="1">
            <a:spLocks/>
          </p:cNvSpPr>
          <p:nvPr/>
        </p:nvSpPr>
        <p:spPr>
          <a:xfrm>
            <a:off x="6515100" y="1507991"/>
            <a:ext cx="5533724" cy="1697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Note: we don’t need to put all the column names into the </a:t>
            </a:r>
            <a:r>
              <a:rPr lang="en-GB" i="1" dirty="0"/>
              <a:t>dictionary.</a:t>
            </a:r>
          </a:p>
        </p:txBody>
      </p:sp>
    </p:spTree>
    <p:extLst>
      <p:ext uri="{BB962C8B-B14F-4D97-AF65-F5344CB8AC3E}">
        <p14:creationId xmlns:p14="http://schemas.microsoft.com/office/powerpoint/2010/main" val="3277831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989927C-0C23-8866-C2D8-D7A2EB8A6C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433"/>
          <a:stretch/>
        </p:blipFill>
        <p:spPr>
          <a:xfrm>
            <a:off x="0" y="4223758"/>
            <a:ext cx="12192000" cy="125301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991"/>
            <a:ext cx="5533724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need to tell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how to rename them.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dictionary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data structure for this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{key : value}</a:t>
            </a: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{current column name : new column name}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r>
              <a:rPr lang="en-GB" dirty="0"/>
              <a:t>: column names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5F96378C-A7EB-D0A7-C10C-8A30C349A098}"/>
              </a:ext>
            </a:extLst>
          </p:cNvPr>
          <p:cNvSpPr txBox="1">
            <a:spLocks/>
          </p:cNvSpPr>
          <p:nvPr/>
        </p:nvSpPr>
        <p:spPr>
          <a:xfrm>
            <a:off x="6515100" y="1507991"/>
            <a:ext cx="5533724" cy="1697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Note, we don’t need to put all the column names into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dictionary.</a:t>
            </a:r>
          </a:p>
          <a:p>
            <a:r>
              <a:rPr lang="en-GB" dirty="0"/>
              <a:t>Note</a:t>
            </a:r>
            <a:r>
              <a:rPr lang="en-GB" i="1" dirty="0"/>
              <a:t>, python </a:t>
            </a:r>
            <a:r>
              <a:rPr lang="en-GB" dirty="0"/>
              <a:t>convention recommends we use </a:t>
            </a:r>
            <a:r>
              <a:rPr lang="en-GB" i="1" dirty="0" err="1"/>
              <a:t>snake_case</a:t>
            </a:r>
            <a:endParaRPr lang="en-GB" i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3D2781-FCFC-5114-9DF0-A11EFE96EB8F}"/>
              </a:ext>
            </a:extLst>
          </p:cNvPr>
          <p:cNvCxnSpPr>
            <a:cxnSpLocks/>
          </p:cNvCxnSpPr>
          <p:nvPr/>
        </p:nvCxnSpPr>
        <p:spPr>
          <a:xfrm>
            <a:off x="10164278" y="3257170"/>
            <a:ext cx="895149" cy="16228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52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989927C-0C23-8866-C2D8-D7A2EB8A6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757"/>
            <a:ext cx="12192000" cy="263424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C451B-999E-19F3-2441-A271CC66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991"/>
            <a:ext cx="5533724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need to tell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how to rename them.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dictionary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data structure for this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{key : value}</a:t>
            </a: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{current column name : new column name}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r>
              <a:rPr lang="en-GB" dirty="0"/>
              <a:t>: column names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5F96378C-A7EB-D0A7-C10C-8A30C349A098}"/>
              </a:ext>
            </a:extLst>
          </p:cNvPr>
          <p:cNvSpPr txBox="1">
            <a:spLocks/>
          </p:cNvSpPr>
          <p:nvPr/>
        </p:nvSpPr>
        <p:spPr>
          <a:xfrm>
            <a:off x="6515100" y="1500639"/>
            <a:ext cx="5533724" cy="1697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Note, we don’t need to put all the column names into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dictionary.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Note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, python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convention recommends we use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snake_case</a:t>
            </a:r>
            <a:endParaRPr lang="en-GB" i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/>
              <a:t>We can use </a:t>
            </a:r>
            <a:r>
              <a:rPr lang="en-GB" i="1" dirty="0" err="1"/>
              <a:t>inplace</a:t>
            </a:r>
            <a:r>
              <a:rPr lang="en-GB" dirty="0"/>
              <a:t> to update the </a:t>
            </a:r>
            <a:r>
              <a:rPr lang="en-GB" i="1" dirty="0" err="1"/>
              <a:t>dataframe</a:t>
            </a:r>
            <a:r>
              <a:rPr lang="en-GB" i="1" dirty="0"/>
              <a:t> </a:t>
            </a:r>
            <a:r>
              <a:rPr lang="en-GB" dirty="0"/>
              <a:t>in most </a:t>
            </a:r>
            <a:r>
              <a:rPr lang="en-GB" i="1" dirty="0"/>
              <a:t>methods.</a:t>
            </a:r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14AB82-8442-BFBB-2372-31596286E4BE}"/>
              </a:ext>
            </a:extLst>
          </p:cNvPr>
          <p:cNvGrpSpPr/>
          <p:nvPr/>
        </p:nvGrpSpPr>
        <p:grpSpPr>
          <a:xfrm>
            <a:off x="407469" y="5483943"/>
            <a:ext cx="4000902" cy="744718"/>
            <a:chOff x="1738562" y="3147461"/>
            <a:chExt cx="4000902" cy="74471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4717625-7099-80BA-CD59-8602ADB6123F}"/>
                </a:ext>
              </a:extLst>
            </p:cNvPr>
            <p:cNvSpPr/>
            <p:nvPr/>
          </p:nvSpPr>
          <p:spPr>
            <a:xfrm>
              <a:off x="1738562" y="3147461"/>
              <a:ext cx="4000902" cy="3753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294543-7A0D-EFFD-D595-6458EC50EC0C}"/>
                </a:ext>
              </a:extLst>
            </p:cNvPr>
            <p:cNvSpPr txBox="1"/>
            <p:nvPr/>
          </p:nvSpPr>
          <p:spPr>
            <a:xfrm>
              <a:off x="4844315" y="3522847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E45499-12FE-A25E-BC7E-81D36802B5BF}"/>
              </a:ext>
            </a:extLst>
          </p:cNvPr>
          <p:cNvCxnSpPr/>
          <p:nvPr/>
        </p:nvCxnSpPr>
        <p:spPr>
          <a:xfrm flipH="1">
            <a:off x="4177364" y="3984859"/>
            <a:ext cx="2464068" cy="15560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874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4CD8BB-1745-D2CC-B38C-8F2EF809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r>
              <a:rPr lang="en-GB" dirty="0"/>
              <a:t>: column names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03D7A3D-52DD-1716-7805-2E1B90F4BFBC}"/>
              </a:ext>
            </a:extLst>
          </p:cNvPr>
          <p:cNvSpPr txBox="1">
            <a:spLocks/>
          </p:cNvSpPr>
          <p:nvPr/>
        </p:nvSpPr>
        <p:spPr>
          <a:xfrm>
            <a:off x="6515100" y="1507991"/>
            <a:ext cx="5533724" cy="1697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Note, </a:t>
            </a:r>
            <a:r>
              <a:rPr lang="en-GB" i="1" dirty="0"/>
              <a:t>python</a:t>
            </a:r>
            <a:r>
              <a:rPr lang="en-GB" dirty="0"/>
              <a:t> convention recommends that we start variables with a lower case.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F54119D7-1C44-C835-00DE-AED9BF9A1150}"/>
              </a:ext>
            </a:extLst>
          </p:cNvPr>
          <p:cNvSpPr txBox="1">
            <a:spLocks/>
          </p:cNvSpPr>
          <p:nvPr/>
        </p:nvSpPr>
        <p:spPr>
          <a:xfrm>
            <a:off x="838200" y="1507991"/>
            <a:ext cx="553372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need to tell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how to rename them.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dictionary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data structure for this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{key : value}</a:t>
            </a: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{current column name : new column name}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9D7B2B-7886-E588-4944-79775B973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89376"/>
            <a:ext cx="12192000" cy="249028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1E97E1-0320-C474-83C6-851EDF9D263A}"/>
              </a:ext>
            </a:extLst>
          </p:cNvPr>
          <p:cNvCxnSpPr>
            <a:cxnSpLocks/>
          </p:cNvCxnSpPr>
          <p:nvPr/>
        </p:nvCxnSpPr>
        <p:spPr>
          <a:xfrm flipH="1">
            <a:off x="4629752" y="2695074"/>
            <a:ext cx="5216892" cy="17902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695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257800" cy="5239319"/>
          </a:xfrm>
        </p:spPr>
        <p:txBody>
          <a:bodyPr/>
          <a:lstStyle/>
          <a:p>
            <a:r>
              <a:rPr lang="en-GB" dirty="0"/>
              <a:t>Cleaning:</a:t>
            </a:r>
          </a:p>
          <a:p>
            <a:pPr lvl="1"/>
            <a:r>
              <a:rPr lang="en-US" dirty="0"/>
              <a:t>process of detecting and amending / removing data that is incorrect, incomplete, improperly formatted or duplicated.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FC271852-F34C-FF4D-644C-63BEFBCF6D7F}"/>
              </a:ext>
            </a:extLst>
          </p:cNvPr>
          <p:cNvSpPr txBox="1">
            <a:spLocks/>
          </p:cNvSpPr>
          <p:nvPr/>
        </p:nvSpPr>
        <p:spPr>
          <a:xfrm>
            <a:off x="5930165" y="4266651"/>
            <a:ext cx="5257800" cy="24501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BD5012C3-39AD-4F7A-175A-77652B6786DF}"/>
              </a:ext>
            </a:extLst>
          </p:cNvPr>
          <p:cNvSpPr txBox="1">
            <a:spLocks/>
          </p:cNvSpPr>
          <p:nvPr/>
        </p:nvSpPr>
        <p:spPr>
          <a:xfrm>
            <a:off x="567089" y="1670015"/>
            <a:ext cx="5257800" cy="5239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74CFE-9374-E2CF-2819-283F8E2C52F3}"/>
              </a:ext>
            </a:extLst>
          </p:cNvPr>
          <p:cNvSpPr txBox="1"/>
          <p:nvPr/>
        </p:nvSpPr>
        <p:spPr>
          <a:xfrm>
            <a:off x="6745357" y="4465983"/>
            <a:ext cx="3326295" cy="163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A0866F8F-36A4-4827-6701-E8BC3D5FC785}"/>
              </a:ext>
            </a:extLst>
          </p:cNvPr>
          <p:cNvSpPr txBox="1">
            <a:spLocks/>
          </p:cNvSpPr>
          <p:nvPr/>
        </p:nvSpPr>
        <p:spPr>
          <a:xfrm>
            <a:off x="6096000" y="4465983"/>
            <a:ext cx="5257800" cy="22130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5068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257800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Cleaning: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process of detecting and amending / removing data that is incorrect, incomplete, improperly formatted or duplicated.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/>
              <a:t>If there are </a:t>
            </a:r>
            <a:r>
              <a:rPr lang="en-GB" i="1" dirty="0" err="1"/>
              <a:t>NaNs</a:t>
            </a:r>
            <a:r>
              <a:rPr lang="en-GB" i="1" dirty="0"/>
              <a:t> </a:t>
            </a:r>
            <a:r>
              <a:rPr lang="en-GB" dirty="0"/>
              <a:t>in the entries, we need to speak to the data collector to understand why they might be there.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NaNs</a:t>
            </a:r>
            <a:endParaRPr lang="en-GB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FC271852-F34C-FF4D-644C-63BEFBCF6D7F}"/>
              </a:ext>
            </a:extLst>
          </p:cNvPr>
          <p:cNvSpPr txBox="1">
            <a:spLocks/>
          </p:cNvSpPr>
          <p:nvPr/>
        </p:nvSpPr>
        <p:spPr>
          <a:xfrm>
            <a:off x="5930165" y="4266651"/>
            <a:ext cx="5257800" cy="24501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BD5012C3-39AD-4F7A-175A-77652B6786DF}"/>
              </a:ext>
            </a:extLst>
          </p:cNvPr>
          <p:cNvSpPr txBox="1">
            <a:spLocks/>
          </p:cNvSpPr>
          <p:nvPr/>
        </p:nvSpPr>
        <p:spPr>
          <a:xfrm>
            <a:off x="567089" y="1670015"/>
            <a:ext cx="5257800" cy="5239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74CFE-9374-E2CF-2819-283F8E2C52F3}"/>
              </a:ext>
            </a:extLst>
          </p:cNvPr>
          <p:cNvSpPr txBox="1"/>
          <p:nvPr/>
        </p:nvSpPr>
        <p:spPr>
          <a:xfrm>
            <a:off x="6745357" y="4465983"/>
            <a:ext cx="3326295" cy="163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A0866F8F-36A4-4827-6701-E8BC3D5FC785}"/>
              </a:ext>
            </a:extLst>
          </p:cNvPr>
          <p:cNvSpPr txBox="1">
            <a:spLocks/>
          </p:cNvSpPr>
          <p:nvPr/>
        </p:nvSpPr>
        <p:spPr>
          <a:xfrm>
            <a:off x="6096000" y="4465983"/>
            <a:ext cx="5257800" cy="22130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760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2487DD9-1221-76D4-6E82-B7A61159D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60" y="1361145"/>
            <a:ext cx="6639339" cy="256212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257800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Cleaning: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process of detecting and amending / removing data that is incorrect, incomplete, improperly formatted or duplicated.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If there are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the entries, we need to speak to the data collector to understand why they might be there.</a:t>
            </a:r>
          </a:p>
          <a:p>
            <a:r>
              <a:rPr lang="en-GB" dirty="0"/>
              <a:t>We can search over the whole </a:t>
            </a:r>
            <a:r>
              <a:rPr lang="en-GB" i="1" dirty="0" err="1"/>
              <a:t>dataframe</a:t>
            </a:r>
            <a:r>
              <a:rPr lang="en-GB" i="1" dirty="0"/>
              <a:t> </a:t>
            </a:r>
            <a:r>
              <a:rPr lang="en-GB" dirty="0"/>
              <a:t>using a </a:t>
            </a:r>
            <a:r>
              <a:rPr lang="en-GB" i="1" dirty="0"/>
              <a:t>Boolean</a:t>
            </a:r>
            <a:r>
              <a:rPr lang="en-GB" dirty="0"/>
              <a:t> statement.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NaNs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88634F-C917-536D-1F66-DE3B7F5A35FD}"/>
              </a:ext>
            </a:extLst>
          </p:cNvPr>
          <p:cNvGrpSpPr/>
          <p:nvPr/>
        </p:nvGrpSpPr>
        <p:grpSpPr>
          <a:xfrm>
            <a:off x="5748287" y="1070390"/>
            <a:ext cx="5439678" cy="752251"/>
            <a:chOff x="1738562" y="2770596"/>
            <a:chExt cx="5439678" cy="7522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BAAA1F-4444-2279-D34D-0C6E7F1CCB50}"/>
                </a:ext>
              </a:extLst>
            </p:cNvPr>
            <p:cNvSpPr/>
            <p:nvPr/>
          </p:nvSpPr>
          <p:spPr>
            <a:xfrm>
              <a:off x="1738562" y="3147461"/>
              <a:ext cx="5439678" cy="3753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0505A9-17CC-8DD2-39E7-1F6BFD087B13}"/>
                </a:ext>
              </a:extLst>
            </p:cNvPr>
            <p:cNvSpPr txBox="1"/>
            <p:nvPr/>
          </p:nvSpPr>
          <p:spPr>
            <a:xfrm>
              <a:off x="6283091" y="2770596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FC271852-F34C-FF4D-644C-63BEFBCF6D7F}"/>
              </a:ext>
            </a:extLst>
          </p:cNvPr>
          <p:cNvSpPr txBox="1">
            <a:spLocks/>
          </p:cNvSpPr>
          <p:nvPr/>
        </p:nvSpPr>
        <p:spPr>
          <a:xfrm>
            <a:off x="5930165" y="4266651"/>
            <a:ext cx="5257800" cy="24501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BD5012C3-39AD-4F7A-175A-77652B6786DF}"/>
              </a:ext>
            </a:extLst>
          </p:cNvPr>
          <p:cNvSpPr txBox="1">
            <a:spLocks/>
          </p:cNvSpPr>
          <p:nvPr/>
        </p:nvSpPr>
        <p:spPr>
          <a:xfrm>
            <a:off x="567089" y="1670015"/>
            <a:ext cx="5257800" cy="5239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74CFE-9374-E2CF-2819-283F8E2C52F3}"/>
              </a:ext>
            </a:extLst>
          </p:cNvPr>
          <p:cNvSpPr txBox="1"/>
          <p:nvPr/>
        </p:nvSpPr>
        <p:spPr>
          <a:xfrm>
            <a:off x="6745357" y="4465983"/>
            <a:ext cx="3326295" cy="163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A0866F8F-36A4-4827-6701-E8BC3D5FC785}"/>
              </a:ext>
            </a:extLst>
          </p:cNvPr>
          <p:cNvSpPr txBox="1">
            <a:spLocks/>
          </p:cNvSpPr>
          <p:nvPr/>
        </p:nvSpPr>
        <p:spPr>
          <a:xfrm>
            <a:off x="6096000" y="4465983"/>
            <a:ext cx="5257800" cy="22130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use the </a:t>
            </a:r>
            <a:r>
              <a:rPr lang="en-GB" i="1" dirty="0"/>
              <a:t>pipe</a:t>
            </a:r>
            <a:r>
              <a:rPr lang="en-GB" dirty="0"/>
              <a:t> operator | since this needs to be an </a:t>
            </a:r>
            <a:r>
              <a:rPr lang="en-GB" i="1" dirty="0"/>
              <a:t>element</a:t>
            </a:r>
            <a:r>
              <a:rPr lang="en-GB" dirty="0"/>
              <a:t> wise </a:t>
            </a:r>
            <a:r>
              <a:rPr lang="en-GB" i="1" dirty="0"/>
              <a:t>or </a:t>
            </a:r>
            <a:r>
              <a:rPr lang="en-GB" dirty="0"/>
              <a:t>operation:</a:t>
            </a:r>
          </a:p>
          <a:p>
            <a:pPr lvl="1"/>
            <a:r>
              <a:rPr lang="en-GB" dirty="0"/>
              <a:t>For each row, display the row if the entry in </a:t>
            </a:r>
            <a:r>
              <a:rPr lang="en-GB" i="1" dirty="0" err="1"/>
              <a:t>commute_mins</a:t>
            </a:r>
            <a:r>
              <a:rPr lang="en-GB" dirty="0"/>
              <a:t> is </a:t>
            </a:r>
            <a:r>
              <a:rPr lang="en-GB" i="1" dirty="0"/>
              <a:t>null or </a:t>
            </a:r>
            <a:r>
              <a:rPr lang="en-GB" dirty="0"/>
              <a:t>the</a:t>
            </a:r>
            <a:r>
              <a:rPr lang="en-GB" i="1" dirty="0"/>
              <a:t> </a:t>
            </a:r>
            <a:r>
              <a:rPr lang="en-GB" dirty="0"/>
              <a:t>entry in </a:t>
            </a:r>
            <a:r>
              <a:rPr lang="en-GB" i="1" dirty="0" err="1"/>
              <a:t>height_cm</a:t>
            </a:r>
            <a:r>
              <a:rPr lang="en-GB" dirty="0"/>
              <a:t> is </a:t>
            </a:r>
            <a:r>
              <a:rPr lang="en-GB" i="1" dirty="0"/>
              <a:t>null.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B82E3B-B7BB-5F39-E042-0DE4F74C2818}"/>
              </a:ext>
            </a:extLst>
          </p:cNvPr>
          <p:cNvCxnSpPr/>
          <p:nvPr/>
        </p:nvCxnSpPr>
        <p:spPr>
          <a:xfrm flipH="1" flipV="1">
            <a:off x="8855242" y="1925053"/>
            <a:ext cx="1328286" cy="25409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621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257800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If there are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the entries, we need to speak to the data collector to understand why they might be there.</a:t>
            </a:r>
          </a:p>
          <a:p>
            <a:r>
              <a:rPr lang="en-GB" dirty="0"/>
              <a:t>In this instance, we are </a:t>
            </a:r>
            <a:r>
              <a:rPr lang="en-GB" b="1" dirty="0"/>
              <a:t>told</a:t>
            </a:r>
            <a:r>
              <a:rPr lang="en-GB" dirty="0"/>
              <a:t> to </a:t>
            </a:r>
            <a:r>
              <a:rPr lang="en-GB" i="1" dirty="0"/>
              <a:t>drop </a:t>
            </a:r>
            <a:r>
              <a:rPr lang="en-GB" dirty="0"/>
              <a:t>them from the </a:t>
            </a:r>
            <a:r>
              <a:rPr lang="en-GB" i="1" dirty="0" err="1"/>
              <a:t>dataframe</a:t>
            </a:r>
            <a:r>
              <a:rPr lang="en-GB" i="1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NaNs</a:t>
            </a:r>
            <a:endParaRPr lang="en-GB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112350C-51B2-1E18-6051-AA26042C4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660" y="1361145"/>
            <a:ext cx="6639339" cy="256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537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257800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If there are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the entries, we need to speak to the data collector to understand why they might be there.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this instance, we are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told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drop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them from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/>
              <a:t>Now, we are going to be editing the </a:t>
            </a:r>
            <a:r>
              <a:rPr lang="en-GB" i="1" dirty="0" err="1"/>
              <a:t>dataframe</a:t>
            </a:r>
            <a:r>
              <a:rPr lang="en-GB" dirty="0"/>
              <a:t> entries, so we need to note how many entries we are editing.</a:t>
            </a:r>
          </a:p>
          <a:p>
            <a:r>
              <a:rPr lang="en-GB" dirty="0"/>
              <a:t>We need to tell the data collector that we are dropping 5 out of 86 rows.</a:t>
            </a:r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NaNs</a:t>
            </a:r>
            <a:endParaRPr lang="en-GB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112350C-51B2-1E18-6051-AA26042C4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660" y="1361145"/>
            <a:ext cx="6639339" cy="256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726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6014986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If there are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the entries, we need to speak to the data collector to understand why they might be there.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this instance, we are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told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drop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them from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/>
              <a:t>We need to find all the </a:t>
            </a:r>
            <a:r>
              <a:rPr lang="en-GB" i="1" dirty="0"/>
              <a:t>index</a:t>
            </a:r>
            <a:r>
              <a:rPr lang="en-GB" dirty="0"/>
              <a:t>es where a </a:t>
            </a:r>
            <a:r>
              <a:rPr lang="en-GB" i="1" dirty="0" err="1"/>
              <a:t>NaN</a:t>
            </a:r>
            <a:r>
              <a:rPr lang="en-GB" i="1" dirty="0"/>
              <a:t> </a:t>
            </a:r>
            <a:r>
              <a:rPr lang="en-GB" dirty="0"/>
              <a:t>exists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NaNs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6CA2E-D49B-150A-A99F-AA5974D54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676" y="1361145"/>
            <a:ext cx="5762324" cy="2223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B09A06-F516-D14A-515C-B47AD2C2EF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0067"/>
          <a:stretch/>
        </p:blipFill>
        <p:spPr>
          <a:xfrm>
            <a:off x="6631806" y="3532967"/>
            <a:ext cx="5560194" cy="33028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749AF28-3394-8894-21D2-F4557E06D8E6}"/>
              </a:ext>
            </a:extLst>
          </p:cNvPr>
          <p:cNvGrpSpPr/>
          <p:nvPr/>
        </p:nvGrpSpPr>
        <p:grpSpPr>
          <a:xfrm>
            <a:off x="7854216" y="3533705"/>
            <a:ext cx="4337784" cy="744718"/>
            <a:chOff x="2840456" y="3147461"/>
            <a:chExt cx="4337784" cy="74471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D95C21C-4702-E294-65BC-C07B55F2007C}"/>
                </a:ext>
              </a:extLst>
            </p:cNvPr>
            <p:cNvSpPr/>
            <p:nvPr/>
          </p:nvSpPr>
          <p:spPr>
            <a:xfrm>
              <a:off x="2840456" y="3147461"/>
              <a:ext cx="4337784" cy="3753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069930-1239-BA5B-39FF-3400B2626732}"/>
                </a:ext>
              </a:extLst>
            </p:cNvPr>
            <p:cNvSpPr txBox="1"/>
            <p:nvPr/>
          </p:nvSpPr>
          <p:spPr>
            <a:xfrm>
              <a:off x="6283090" y="3522847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3102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8" y="1517615"/>
            <a:ext cx="6014987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If there are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the entries, we need to speak to the data collector to understand why they might be there.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this instance, we are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told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drop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them from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/>
              <a:t>We need to find all the </a:t>
            </a:r>
            <a:r>
              <a:rPr lang="en-GB" i="1" dirty="0"/>
              <a:t>index</a:t>
            </a:r>
            <a:r>
              <a:rPr lang="en-GB" dirty="0"/>
              <a:t>es where a </a:t>
            </a:r>
            <a:r>
              <a:rPr lang="en-GB" i="1" dirty="0" err="1"/>
              <a:t>NaN</a:t>
            </a:r>
            <a:r>
              <a:rPr lang="en-GB" i="1" dirty="0"/>
              <a:t> </a:t>
            </a:r>
            <a:r>
              <a:rPr lang="en-GB" dirty="0"/>
              <a:t>exists, then </a:t>
            </a:r>
            <a:r>
              <a:rPr lang="en-GB" i="1" dirty="0"/>
              <a:t>drop </a:t>
            </a:r>
            <a:r>
              <a:rPr lang="en-GB" dirty="0"/>
              <a:t>them.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NaNs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6CA2E-D49B-150A-A99F-AA5974D54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676" y="1361145"/>
            <a:ext cx="5762324" cy="2223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B09A06-F516-D14A-515C-B47AD2C2E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567"/>
          <a:stretch/>
        </p:blipFill>
        <p:spPr>
          <a:xfrm>
            <a:off x="6631806" y="3532967"/>
            <a:ext cx="5560194" cy="41339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B4518F0-FE77-2EA1-F8E0-4A4D235786AA}"/>
              </a:ext>
            </a:extLst>
          </p:cNvPr>
          <p:cNvCxnSpPr>
            <a:cxnSpLocks/>
          </p:cNvCxnSpPr>
          <p:nvPr/>
        </p:nvCxnSpPr>
        <p:spPr>
          <a:xfrm flipV="1">
            <a:off x="5014762" y="3946358"/>
            <a:ext cx="1819175" cy="356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770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899484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If there are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the entries, we need to speak to the data collector to understand why they might be there.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In this instance, we are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</a:rPr>
              <a:t>told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drop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them from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need to find all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index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es where a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exists, then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drop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them. </a:t>
            </a:r>
          </a:p>
          <a:p>
            <a:r>
              <a:rPr lang="en-GB" dirty="0"/>
              <a:t>We have to </a:t>
            </a:r>
            <a:r>
              <a:rPr lang="en-GB" i="1" dirty="0" err="1"/>
              <a:t>reset_index</a:t>
            </a:r>
            <a:r>
              <a:rPr lang="en-GB" dirty="0"/>
              <a:t> otherwise it will think there are still 86 rows, </a:t>
            </a:r>
            <a:r>
              <a:rPr lang="en-GB" i="1" dirty="0"/>
              <a:t>drop</a:t>
            </a:r>
            <a:r>
              <a:rPr lang="en-GB" dirty="0"/>
              <a:t> stops </a:t>
            </a:r>
            <a:r>
              <a:rPr lang="en-GB" i="1" dirty="0" err="1"/>
              <a:t>reset_index</a:t>
            </a:r>
            <a:r>
              <a:rPr lang="en-GB" dirty="0"/>
              <a:t> from creating a column with the previous </a:t>
            </a:r>
            <a:r>
              <a:rPr lang="en-GB" i="1" dirty="0"/>
              <a:t>indexes.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NaNs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6CA2E-D49B-150A-A99F-AA5974D54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676" y="1361145"/>
            <a:ext cx="5762324" cy="2223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B09A06-F516-D14A-515C-B47AD2C2E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806" y="3532966"/>
            <a:ext cx="5560194" cy="332503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B022B2-0263-0D71-0080-9B04637DB509}"/>
              </a:ext>
            </a:extLst>
          </p:cNvPr>
          <p:cNvCxnSpPr>
            <a:cxnSpLocks/>
          </p:cNvCxnSpPr>
          <p:nvPr/>
        </p:nvCxnSpPr>
        <p:spPr>
          <a:xfrm flipV="1">
            <a:off x="4129238" y="4093757"/>
            <a:ext cx="2704699" cy="5648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765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841732" cy="5239319"/>
          </a:xfrm>
        </p:spPr>
        <p:txBody>
          <a:bodyPr/>
          <a:lstStyle/>
          <a:p>
            <a:r>
              <a:rPr lang="en-GB" dirty="0"/>
              <a:t>We should also check for </a:t>
            </a:r>
            <a:r>
              <a:rPr lang="en-GB" i="1" dirty="0"/>
              <a:t>duplicates.</a:t>
            </a:r>
          </a:p>
          <a:p>
            <a:r>
              <a:rPr lang="en-GB" dirty="0"/>
              <a:t>We have a unique identifier, </a:t>
            </a:r>
            <a:r>
              <a:rPr lang="en-GB" i="1" dirty="0"/>
              <a:t>Id.</a:t>
            </a:r>
            <a:endParaRPr lang="en-GB" dirty="0"/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duplicates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04346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59E1FA6-F163-EED2-DE4B-1B8DB2860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1337043"/>
            <a:ext cx="3467100" cy="18161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841732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should also check for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duplicates.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a unique identifier,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Id.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i="1" dirty="0"/>
              <a:t>duplicated </a:t>
            </a:r>
            <a:r>
              <a:rPr lang="en-GB" dirty="0"/>
              <a:t>allows us to check if any of the rows of the </a:t>
            </a:r>
            <a:r>
              <a:rPr lang="en-GB" i="1" dirty="0"/>
              <a:t>series</a:t>
            </a:r>
            <a:r>
              <a:rPr lang="en-GB" dirty="0"/>
              <a:t>, or even the </a:t>
            </a:r>
            <a:r>
              <a:rPr lang="en-GB" i="1" dirty="0" err="1"/>
              <a:t>dataframe</a:t>
            </a:r>
            <a:r>
              <a:rPr lang="en-GB" dirty="0"/>
              <a:t>,</a:t>
            </a:r>
            <a:r>
              <a:rPr lang="en-GB" i="1" dirty="0"/>
              <a:t> </a:t>
            </a:r>
            <a:r>
              <a:rPr lang="en-GB" dirty="0"/>
              <a:t>are duplicated, it returns a </a:t>
            </a:r>
            <a:r>
              <a:rPr lang="en-GB" i="1" dirty="0"/>
              <a:t>Boolean</a:t>
            </a:r>
            <a:r>
              <a:rPr lang="en-GB" dirty="0"/>
              <a:t> list. </a:t>
            </a:r>
            <a:r>
              <a:rPr lang="en-GB" i="1" dirty="0">
                <a:solidFill>
                  <a:srgbClr val="0070C0"/>
                </a:solidFill>
              </a:rPr>
              <a:t>Post lecture edit: when it returns the Boolean list, it does not return True for the first entry of any Id. This means that there are 30 + the number of unique duplicate Ids rows in total that could be duplicates</a:t>
            </a:r>
            <a:endParaRPr lang="en-GB" dirty="0"/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duplicates</a:t>
            </a: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CF44F3-21EF-179B-7A88-316290101FF5}"/>
              </a:ext>
            </a:extLst>
          </p:cNvPr>
          <p:cNvCxnSpPr/>
          <p:nvPr/>
        </p:nvCxnSpPr>
        <p:spPr>
          <a:xfrm flipV="1">
            <a:off x="5900286" y="1973179"/>
            <a:ext cx="4331369" cy="904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580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59E1FA6-F163-EED2-DE4B-1B8DB2860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900" y="1337043"/>
            <a:ext cx="3467100" cy="18161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841732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should also check for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duplicates.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a unique identifier,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Id.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duplicated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allows us to check if any of the rows of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series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, or even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are duplicated, it returns a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Boolean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list.</a:t>
            </a:r>
          </a:p>
          <a:p>
            <a:r>
              <a:rPr lang="en-GB" i="1" dirty="0"/>
              <a:t>any </a:t>
            </a:r>
            <a:r>
              <a:rPr lang="en-GB" dirty="0"/>
              <a:t>checks if </a:t>
            </a:r>
            <a:r>
              <a:rPr lang="en-GB" i="1" dirty="0"/>
              <a:t>any </a:t>
            </a:r>
            <a:r>
              <a:rPr lang="en-GB" dirty="0"/>
              <a:t>element in a list is </a:t>
            </a:r>
            <a:r>
              <a:rPr lang="en-GB" i="1" dirty="0"/>
              <a:t>True.</a:t>
            </a:r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duplicates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B9A6F7-C8E8-A3B3-420C-CE0E0824E5B8}"/>
              </a:ext>
            </a:extLst>
          </p:cNvPr>
          <p:cNvGrpSpPr/>
          <p:nvPr/>
        </p:nvGrpSpPr>
        <p:grpSpPr>
          <a:xfrm>
            <a:off x="11296851" y="1074457"/>
            <a:ext cx="895149" cy="744718"/>
            <a:chOff x="6939413" y="2778129"/>
            <a:chExt cx="895149" cy="74471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21CA18-C6D8-7A93-E32D-9506FA6E3523}"/>
                </a:ext>
              </a:extLst>
            </p:cNvPr>
            <p:cNvSpPr/>
            <p:nvPr/>
          </p:nvSpPr>
          <p:spPr>
            <a:xfrm>
              <a:off x="7115876" y="3147461"/>
              <a:ext cx="718686" cy="3753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AE1986-CE1C-AE8F-B81D-8923361AA78C}"/>
                </a:ext>
              </a:extLst>
            </p:cNvPr>
            <p:cNvSpPr txBox="1"/>
            <p:nvPr/>
          </p:nvSpPr>
          <p:spPr>
            <a:xfrm>
              <a:off x="6939413" y="2778129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23927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59E1FA6-F163-EED2-DE4B-1B8DB2860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1337043"/>
            <a:ext cx="3467100" cy="18161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5841732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should also check for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duplicates.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a unique identifier,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Id.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duplicated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allows us to check if any of the rows of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series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, or even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are duplicated, it returns a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Boolean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list.</a:t>
            </a: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any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checks if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any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element in a list is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True.</a:t>
            </a:r>
          </a:p>
          <a:p>
            <a:r>
              <a:rPr lang="en-GB" dirty="0"/>
              <a:t>The </a:t>
            </a:r>
            <a:r>
              <a:rPr lang="en-GB" i="1" dirty="0"/>
              <a:t>sum </a:t>
            </a:r>
            <a:r>
              <a:rPr lang="en-GB" dirty="0"/>
              <a:t>of a</a:t>
            </a:r>
            <a:r>
              <a:rPr lang="en-GB" b="1" dirty="0"/>
              <a:t> </a:t>
            </a:r>
            <a:r>
              <a:rPr lang="en-GB" i="1" dirty="0"/>
              <a:t>Boolean </a:t>
            </a:r>
            <a:r>
              <a:rPr lang="en-GB" dirty="0"/>
              <a:t>list calculates the number of </a:t>
            </a:r>
            <a:r>
              <a:rPr lang="en-GB" i="1" dirty="0"/>
              <a:t>True </a:t>
            </a:r>
            <a:r>
              <a:rPr lang="en-GB" dirty="0"/>
              <a:t>elements.</a:t>
            </a:r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duplicates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A93A30-924C-899E-E058-798BAA818D2B}"/>
              </a:ext>
            </a:extLst>
          </p:cNvPr>
          <p:cNvGrpSpPr/>
          <p:nvPr/>
        </p:nvGrpSpPr>
        <p:grpSpPr>
          <a:xfrm>
            <a:off x="9124749" y="1674170"/>
            <a:ext cx="2348564" cy="722351"/>
            <a:chOff x="7344274" y="3147461"/>
            <a:chExt cx="2348564" cy="72235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DD1682-0D9C-613A-B83A-EB2DB265F8BD}"/>
                </a:ext>
              </a:extLst>
            </p:cNvPr>
            <p:cNvSpPr/>
            <p:nvPr/>
          </p:nvSpPr>
          <p:spPr>
            <a:xfrm>
              <a:off x="7344274" y="3147461"/>
              <a:ext cx="2348564" cy="3753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6C5AB5-0B26-4C28-9400-208D55315D46}"/>
                </a:ext>
              </a:extLst>
            </p:cNvPr>
            <p:cNvSpPr txBox="1"/>
            <p:nvPr/>
          </p:nvSpPr>
          <p:spPr>
            <a:xfrm>
              <a:off x="8797689" y="3500480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36044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4619324" cy="5239319"/>
          </a:xfrm>
        </p:spPr>
        <p:txBody>
          <a:bodyPr/>
          <a:lstStyle/>
          <a:p>
            <a:r>
              <a:rPr lang="en-GB" dirty="0"/>
              <a:t>This is the list of </a:t>
            </a:r>
            <a:r>
              <a:rPr lang="en-GB" i="1" dirty="0"/>
              <a:t>unique Id</a:t>
            </a:r>
            <a:r>
              <a:rPr lang="en-GB" dirty="0"/>
              <a:t>s that are duplicated.</a:t>
            </a:r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duplicates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D2B6E-3D84-C8AB-281A-1E0621B6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1344578"/>
            <a:ext cx="70612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62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4619324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is the list of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unique Id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 that are duplicated.</a:t>
            </a:r>
          </a:p>
          <a:p>
            <a:r>
              <a:rPr lang="en-GB" dirty="0"/>
              <a:t>How do we know which duplicate to keep?</a:t>
            </a:r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duplicates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D2B6E-3D84-C8AB-281A-1E0621B6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1344578"/>
            <a:ext cx="7061200" cy="1498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336261-FA49-558C-6B44-2D8DC900A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0" y="2843178"/>
            <a:ext cx="68834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304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4619324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is the list of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unique Id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 that are duplicated.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How do we know which duplicate to keep?</a:t>
            </a:r>
          </a:p>
          <a:p>
            <a:r>
              <a:rPr lang="en-GB" dirty="0"/>
              <a:t>The data collector says we should keep the </a:t>
            </a:r>
            <a:r>
              <a:rPr lang="en-GB" i="1" dirty="0"/>
              <a:t>last</a:t>
            </a:r>
            <a:r>
              <a:rPr lang="en-GB" dirty="0"/>
              <a:t> entry.</a:t>
            </a:r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drop_duplicates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D2B6E-3D84-C8AB-281A-1E0621B6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1344578"/>
            <a:ext cx="70612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8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4619324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is the list of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unique Id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 that are duplicated.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How do we know which duplicate to keep?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 data collector says we should keep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last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entry.</a:t>
            </a:r>
          </a:p>
          <a:p>
            <a:r>
              <a:rPr lang="en-GB" dirty="0"/>
              <a:t>We use </a:t>
            </a:r>
            <a:r>
              <a:rPr lang="en-GB" i="1" dirty="0" err="1"/>
              <a:t>drop_duplicates</a:t>
            </a:r>
            <a:r>
              <a:rPr lang="en-GB" dirty="0"/>
              <a:t> to remove the rows that have their </a:t>
            </a:r>
            <a:r>
              <a:rPr lang="en-GB" i="1" dirty="0"/>
              <a:t>Id </a:t>
            </a:r>
            <a:r>
              <a:rPr lang="en-GB" dirty="0"/>
              <a:t>duplicated.</a:t>
            </a:r>
          </a:p>
          <a:p>
            <a:r>
              <a:rPr lang="en-GB" i="1" dirty="0" err="1"/>
              <a:t>ignore_index</a:t>
            </a:r>
            <a:r>
              <a:rPr lang="en-GB" i="1" dirty="0"/>
              <a:t> </a:t>
            </a:r>
            <a:r>
              <a:rPr lang="en-GB" dirty="0"/>
              <a:t>resets the </a:t>
            </a:r>
            <a:r>
              <a:rPr lang="en-GB" i="1" dirty="0"/>
              <a:t>index.</a:t>
            </a:r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drop_duplicates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D2B6E-3D84-C8AB-281A-1E0621B6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1344578"/>
            <a:ext cx="7061200" cy="149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BB89A-4FAD-8FEF-6D01-18E688DCE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843178"/>
            <a:ext cx="6667500" cy="40767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44283F-5DE1-2BAA-4D5B-90A780078956}"/>
              </a:ext>
            </a:extLst>
          </p:cNvPr>
          <p:cNvCxnSpPr>
            <a:cxnSpLocks/>
          </p:cNvCxnSpPr>
          <p:nvPr/>
        </p:nvCxnSpPr>
        <p:spPr>
          <a:xfrm flipV="1">
            <a:off x="4417996" y="3118585"/>
            <a:ext cx="1463040" cy="11454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4573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6E6A0A-C501-AA50-66D9-CA1A48DC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89" y="1517615"/>
            <a:ext cx="4619324" cy="5239319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is the list of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unique Id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 that are duplicated.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How do we know which duplicate to keep?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 data collector says we should keep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last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entry.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drop_duplicates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remove the rows that have their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Id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duplicated.</a:t>
            </a:r>
          </a:p>
          <a:p>
            <a:r>
              <a:rPr lang="en-GB" dirty="0"/>
              <a:t>Remember to write down that we have dropped another 30 out of 81 entries.</a:t>
            </a:r>
          </a:p>
          <a:p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3F6B3-3643-A060-146B-D8BB211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drop_duplicates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D2B6E-3D84-C8AB-281A-1E0621B6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1344578"/>
            <a:ext cx="7061200" cy="149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BB89A-4FAD-8FEF-6D01-18E688DCE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843178"/>
            <a:ext cx="66675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980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88C73-3C40-593E-8F97-5C00BA8B6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97" y="1520792"/>
            <a:ext cx="6279683" cy="4351338"/>
          </a:xfrm>
        </p:spPr>
        <p:txBody>
          <a:bodyPr/>
          <a:lstStyle/>
          <a:p>
            <a:r>
              <a:rPr lang="en-GB" dirty="0"/>
              <a:t>We can access the </a:t>
            </a:r>
            <a:r>
              <a:rPr lang="en-GB" i="1" dirty="0" err="1"/>
              <a:t>dataframe</a:t>
            </a:r>
            <a:r>
              <a:rPr lang="en-GB" i="1" dirty="0"/>
              <a:t> </a:t>
            </a:r>
            <a:r>
              <a:rPr lang="en-GB" dirty="0"/>
              <a:t>columns using either </a:t>
            </a:r>
          </a:p>
          <a:p>
            <a:pPr lvl="1"/>
            <a:r>
              <a:rPr lang="en-GB" i="1" dirty="0" err="1"/>
              <a:t>df</a:t>
            </a:r>
            <a:r>
              <a:rPr lang="en-GB" i="1" dirty="0"/>
              <a:t>[“</a:t>
            </a:r>
            <a:r>
              <a:rPr lang="en-GB" i="1" dirty="0" err="1"/>
              <a:t>column_name</a:t>
            </a:r>
            <a:r>
              <a:rPr lang="en-GB" i="1" dirty="0"/>
              <a:t>”]</a:t>
            </a:r>
          </a:p>
          <a:p>
            <a:pPr lvl="1"/>
            <a:r>
              <a:rPr lang="en-GB" i="1" dirty="0" err="1"/>
              <a:t>df.column_name</a:t>
            </a:r>
            <a:endParaRPr lang="en-GB" i="1" dirty="0"/>
          </a:p>
          <a:p>
            <a:pPr lvl="1"/>
            <a:r>
              <a:rPr lang="en-GB" dirty="0"/>
              <a:t>Note, </a:t>
            </a:r>
            <a:r>
              <a:rPr lang="en-GB" i="1" dirty="0" err="1"/>
              <a:t>df</a:t>
            </a:r>
            <a:r>
              <a:rPr lang="en-GB" i="1" dirty="0"/>
              <a:t>[“column name”] </a:t>
            </a:r>
            <a:r>
              <a:rPr lang="en-GB" dirty="0"/>
              <a:t>would work but </a:t>
            </a:r>
            <a:r>
              <a:rPr lang="en-GB" i="1" dirty="0" err="1"/>
              <a:t>df.column</a:t>
            </a:r>
            <a:r>
              <a:rPr lang="en-GB" i="1" dirty="0"/>
              <a:t> name </a:t>
            </a:r>
            <a:r>
              <a:rPr lang="en-GB" dirty="0"/>
              <a:t>would not. Why?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EE5019-9F13-B43C-A37C-268EE6F0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datetime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08898-4367-EBF6-ACC2-49FF9FD63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604" y="1336126"/>
            <a:ext cx="3808396" cy="25740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FE229A1-C5A2-FDCF-ED01-B8A6C445E878}"/>
              </a:ext>
            </a:extLst>
          </p:cNvPr>
          <p:cNvGrpSpPr/>
          <p:nvPr/>
        </p:nvGrpSpPr>
        <p:grpSpPr>
          <a:xfrm>
            <a:off x="8816740" y="1151460"/>
            <a:ext cx="2868329" cy="956740"/>
            <a:chOff x="2737985" y="3778890"/>
            <a:chExt cx="2868329" cy="9567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4D8278-C0DA-AD02-AC1D-F45D93A136F7}"/>
                </a:ext>
              </a:extLst>
            </p:cNvPr>
            <p:cNvSpPr/>
            <p:nvPr/>
          </p:nvSpPr>
          <p:spPr>
            <a:xfrm>
              <a:off x="2737985" y="4148222"/>
              <a:ext cx="2868329" cy="5874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EAC5E8-4CE1-CB1E-923C-13526D7CBC14}"/>
                </a:ext>
              </a:extLst>
            </p:cNvPr>
            <p:cNvSpPr txBox="1"/>
            <p:nvPr/>
          </p:nvSpPr>
          <p:spPr>
            <a:xfrm>
              <a:off x="4711165" y="3778890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03140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88C73-3C40-593E-8F97-5C00BA8B6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97" y="1520792"/>
            <a:ext cx="6279683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access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columns using either </a:t>
            </a:r>
          </a:p>
          <a:p>
            <a:pPr lvl="1"/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[“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column_name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”]</a:t>
            </a:r>
          </a:p>
          <a:p>
            <a:pPr lvl="1"/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df.column_name</a:t>
            </a:r>
            <a:endParaRPr lang="en-GB" i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/>
              <a:t>We know the first column should be date and time 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EE5019-9F13-B43C-A37C-268EE6F0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datetime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08898-4367-EBF6-ACC2-49FF9FD63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604" y="1336126"/>
            <a:ext cx="3808396" cy="257405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0A70A4-18C8-5108-136D-FE52BF29FFC0}"/>
              </a:ext>
            </a:extLst>
          </p:cNvPr>
          <p:cNvCxnSpPr/>
          <p:nvPr/>
        </p:nvCxnSpPr>
        <p:spPr>
          <a:xfrm flipV="1">
            <a:off x="4957011" y="3628724"/>
            <a:ext cx="3426593" cy="1347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55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88C73-3C40-593E-8F97-5C00BA8B6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97" y="1520792"/>
            <a:ext cx="6279683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access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columns using either </a:t>
            </a:r>
          </a:p>
          <a:p>
            <a:pPr lvl="1"/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[“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column_name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”]</a:t>
            </a:r>
          </a:p>
          <a:p>
            <a:pPr lvl="1"/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df.column_name</a:t>
            </a:r>
            <a:endParaRPr lang="en-GB" i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know the first column should be date and time data.</a:t>
            </a:r>
          </a:p>
          <a:p>
            <a:r>
              <a:rPr lang="en-GB" dirty="0"/>
              <a:t>We can use the </a:t>
            </a:r>
            <a:r>
              <a:rPr lang="en-GB" i="1" dirty="0"/>
              <a:t>datetime </a:t>
            </a:r>
            <a:r>
              <a:rPr lang="en-GB" dirty="0"/>
              <a:t>module (which is integrated into </a:t>
            </a:r>
            <a:r>
              <a:rPr lang="en-GB" i="1" dirty="0"/>
              <a:t>pandas</a:t>
            </a:r>
            <a:r>
              <a:rPr lang="en-GB" dirty="0"/>
              <a:t>) to convert it to a </a:t>
            </a:r>
            <a:r>
              <a:rPr lang="en-GB" i="1" dirty="0"/>
              <a:t>datetime </a:t>
            </a:r>
            <a:r>
              <a:rPr lang="en-GB" dirty="0"/>
              <a:t>value.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EE5019-9F13-B43C-A37C-268EE6F0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datetime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08898-4367-EBF6-ACC2-49FF9FD63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604" y="1336126"/>
            <a:ext cx="3808396" cy="2574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638FFE-E990-45CC-79BF-1CB3D08E4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989" y="5103796"/>
            <a:ext cx="5854700" cy="18288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FEEA6C-36A5-17D3-7BA2-DECF2FC518C2}"/>
              </a:ext>
            </a:extLst>
          </p:cNvPr>
          <p:cNvCxnSpPr/>
          <p:nvPr/>
        </p:nvCxnSpPr>
        <p:spPr>
          <a:xfrm>
            <a:off x="6323798" y="4562375"/>
            <a:ext cx="2598821" cy="6352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1174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88C73-3C40-593E-8F97-5C00BA8B6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97" y="1520792"/>
            <a:ext cx="6279683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access the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columns using either </a:t>
            </a:r>
          </a:p>
          <a:p>
            <a:pPr lvl="1"/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[“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column_name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”]</a:t>
            </a:r>
          </a:p>
          <a:p>
            <a:pPr lvl="1"/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df.column_name</a:t>
            </a:r>
            <a:endParaRPr lang="en-GB" i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know the first column should be date and time data.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use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datetime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module (which is integrated into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pandas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) to convert it to a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datetime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value.</a:t>
            </a:r>
          </a:p>
          <a:p>
            <a:r>
              <a:rPr lang="en-GB" i="1" dirty="0"/>
              <a:t>pandas </a:t>
            </a:r>
            <a:r>
              <a:rPr lang="en-GB" dirty="0"/>
              <a:t>is clever enough to tell us if there are some bad entries in a </a:t>
            </a:r>
            <a:r>
              <a:rPr lang="en-GB" i="1" dirty="0"/>
              <a:t>series</a:t>
            </a:r>
            <a:r>
              <a:rPr lang="en-GB" dirty="0"/>
              <a:t>, which is why we have </a:t>
            </a:r>
            <a:r>
              <a:rPr lang="en-GB" i="1" dirty="0"/>
              <a:t>format=“mixed”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EE5019-9F13-B43C-A37C-268EE6F0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datetime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08898-4367-EBF6-ACC2-49FF9FD63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604" y="1336126"/>
            <a:ext cx="3808396" cy="2574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638FFE-E990-45CC-79BF-1CB3D08E4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989" y="5103796"/>
            <a:ext cx="5854700" cy="18288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125089-9D35-E556-FD30-0208D2C0C41B}"/>
              </a:ext>
            </a:extLst>
          </p:cNvPr>
          <p:cNvCxnSpPr/>
          <p:nvPr/>
        </p:nvCxnSpPr>
        <p:spPr>
          <a:xfrm flipV="1">
            <a:off x="6096000" y="5505651"/>
            <a:ext cx="5257800" cy="9817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0920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E5019-9F13-B43C-A37C-268EE6F0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r>
              <a:rPr lang="en-GB" dirty="0"/>
              <a:t>: extract new columns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0105781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88C73-3C40-593E-8F97-5C00BA8B6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97" y="1520792"/>
            <a:ext cx="5195103" cy="4351338"/>
          </a:xfrm>
        </p:spPr>
        <p:txBody>
          <a:bodyPr/>
          <a:lstStyle/>
          <a:p>
            <a:r>
              <a:rPr lang="en-GB" dirty="0"/>
              <a:t>Now </a:t>
            </a:r>
            <a:r>
              <a:rPr lang="en-GB" i="1" dirty="0"/>
              <a:t>timestamp </a:t>
            </a:r>
            <a:r>
              <a:rPr lang="en-GB" dirty="0"/>
              <a:t>is in </a:t>
            </a:r>
            <a:r>
              <a:rPr lang="en-GB" i="1" dirty="0"/>
              <a:t>datetime</a:t>
            </a:r>
            <a:r>
              <a:rPr lang="en-GB" dirty="0"/>
              <a:t>, we can extract the </a:t>
            </a:r>
            <a:r>
              <a:rPr lang="en-GB" i="1" dirty="0"/>
              <a:t>date</a:t>
            </a:r>
            <a:r>
              <a:rPr lang="en-GB" dirty="0"/>
              <a:t> and </a:t>
            </a:r>
            <a:r>
              <a:rPr lang="en-GB" i="1" dirty="0"/>
              <a:t>time</a:t>
            </a:r>
            <a:r>
              <a:rPr lang="en-GB" dirty="0"/>
              <a:t> and save the into different columns.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EE5019-9F13-B43C-A37C-268EE6F0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r>
              <a:rPr lang="en-GB" dirty="0"/>
              <a:t>: extract new columns</a:t>
            </a:r>
            <a:endParaRPr lang="en-GB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138A04-1094-F153-1027-56B9275F9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0" y="1320800"/>
            <a:ext cx="6692900" cy="210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84828-CB0C-A24B-778C-BDB456CC01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8832"/>
          <a:stretch/>
        </p:blipFill>
        <p:spPr>
          <a:xfrm>
            <a:off x="7825339" y="3425174"/>
            <a:ext cx="4366661" cy="72667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4D956B-EF2E-0D23-8C9A-DACC637BB79F}"/>
              </a:ext>
            </a:extLst>
          </p:cNvPr>
          <p:cNvCxnSpPr/>
          <p:nvPr/>
        </p:nvCxnSpPr>
        <p:spPr>
          <a:xfrm>
            <a:off x="3744227" y="2300438"/>
            <a:ext cx="6689558" cy="1241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6548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9694C4-CF08-EB79-4FF9-BA1508542E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8832"/>
          <a:stretch/>
        </p:blipFill>
        <p:spPr>
          <a:xfrm>
            <a:off x="7825339" y="3425174"/>
            <a:ext cx="4366661" cy="72667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88C73-3C40-593E-8F97-5C00BA8B6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97" y="1520792"/>
            <a:ext cx="5195103" cy="4351338"/>
          </a:xfrm>
        </p:spPr>
        <p:txBody>
          <a:bodyPr/>
          <a:lstStyle/>
          <a:p>
            <a:r>
              <a:rPr lang="en-GB" dirty="0"/>
              <a:t>Now </a:t>
            </a:r>
            <a:r>
              <a:rPr lang="en-GB" i="1" dirty="0"/>
              <a:t>timestamp </a:t>
            </a:r>
            <a:r>
              <a:rPr lang="en-GB" dirty="0"/>
              <a:t>is in </a:t>
            </a:r>
            <a:r>
              <a:rPr lang="en-GB" i="1" dirty="0"/>
              <a:t>datetime</a:t>
            </a:r>
            <a:r>
              <a:rPr lang="en-GB" dirty="0"/>
              <a:t>, we can extract the </a:t>
            </a:r>
            <a:r>
              <a:rPr lang="en-GB" i="1" dirty="0"/>
              <a:t>date</a:t>
            </a:r>
            <a:r>
              <a:rPr lang="en-GB" dirty="0"/>
              <a:t> and </a:t>
            </a:r>
            <a:r>
              <a:rPr lang="en-GB" i="1" dirty="0"/>
              <a:t>time</a:t>
            </a:r>
            <a:r>
              <a:rPr lang="en-GB" dirty="0"/>
              <a:t> and save the into different columns.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EE5019-9F13-B43C-A37C-268EE6F0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r>
              <a:rPr lang="en-GB" dirty="0"/>
              <a:t>: extract new columns</a:t>
            </a:r>
            <a:endParaRPr lang="en-GB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138A04-1094-F153-1027-56B9275F9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1320800"/>
            <a:ext cx="6692900" cy="21082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4D956B-EF2E-0D23-8C9A-DACC637BB79F}"/>
              </a:ext>
            </a:extLst>
          </p:cNvPr>
          <p:cNvCxnSpPr>
            <a:cxnSpLocks/>
          </p:cNvCxnSpPr>
          <p:nvPr/>
        </p:nvCxnSpPr>
        <p:spPr>
          <a:xfrm>
            <a:off x="4860758" y="2329314"/>
            <a:ext cx="6035040" cy="14919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7521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88C73-3C40-593E-8F97-5C00BA8B6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97" y="1520792"/>
            <a:ext cx="5195103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Now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timestamp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is in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datetime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, we can extract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date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and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time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and save the into different columns. </a:t>
            </a:r>
          </a:p>
          <a:p>
            <a:r>
              <a:rPr lang="en-GB" dirty="0"/>
              <a:t>Note, we need to use the “” version of accessing the </a:t>
            </a:r>
            <a:r>
              <a:rPr lang="en-GB" i="1" dirty="0" err="1"/>
              <a:t>dataframe</a:t>
            </a:r>
            <a:r>
              <a:rPr lang="en-GB" dirty="0"/>
              <a:t> to create a new column.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EE5019-9F13-B43C-A37C-268EE6F0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</a:t>
            </a:r>
            <a:r>
              <a:rPr lang="en-GB" dirty="0"/>
              <a:t>: extract new columns</a:t>
            </a:r>
            <a:endParaRPr lang="en-GB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138A04-1094-F153-1027-56B9275F9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0" y="1320800"/>
            <a:ext cx="6692900" cy="210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84828-CB0C-A24B-778C-BDB456CC0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339" y="3425173"/>
            <a:ext cx="4366661" cy="343282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C7B6360-B792-5B27-7EC7-9B9CD2319D90}"/>
              </a:ext>
            </a:extLst>
          </p:cNvPr>
          <p:cNvGrpSpPr/>
          <p:nvPr/>
        </p:nvGrpSpPr>
        <p:grpSpPr>
          <a:xfrm>
            <a:off x="7329637" y="3575161"/>
            <a:ext cx="4114800" cy="587408"/>
            <a:chOff x="1828398" y="4148222"/>
            <a:chExt cx="4114800" cy="58740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158CC2E-6F67-C75A-6B4C-B622E4D2F801}"/>
                </a:ext>
              </a:extLst>
            </p:cNvPr>
            <p:cNvSpPr/>
            <p:nvPr/>
          </p:nvSpPr>
          <p:spPr>
            <a:xfrm>
              <a:off x="2723547" y="4148222"/>
              <a:ext cx="3219651" cy="5874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5C450E-29E7-FC17-6F21-C07BDF268AF1}"/>
                </a:ext>
              </a:extLst>
            </p:cNvPr>
            <p:cNvSpPr txBox="1"/>
            <p:nvPr/>
          </p:nvSpPr>
          <p:spPr>
            <a:xfrm>
              <a:off x="1828398" y="4154580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TOP</a:t>
              </a:r>
              <a:r>
                <a:rPr lang="en-GB" dirty="0">
                  <a:solidFill>
                    <a:schemeClr val="bg1"/>
                  </a:solidFill>
                </a:rPr>
                <a:t>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11096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29C01-E739-4CD0-CE8E-F36642BB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838066"/>
            <a:ext cx="4572802" cy="4351338"/>
          </a:xfrm>
        </p:spPr>
        <p:txBody>
          <a:bodyPr/>
          <a:lstStyle/>
          <a:p>
            <a:r>
              <a:rPr lang="en-GB" dirty="0"/>
              <a:t>Speaking with the data collector, or having done the data collection yourself, you will be aware of the </a:t>
            </a:r>
            <a:r>
              <a:rPr lang="en-GB" i="1" dirty="0"/>
              <a:t>type</a:t>
            </a:r>
            <a:r>
              <a:rPr lang="en-GB" dirty="0"/>
              <a:t> of each answer and some typical answers.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1350E-3263-802B-7C39-07B32D6D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unique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58665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29C01-E739-4CD0-CE8E-F36642BB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838066"/>
            <a:ext cx="4572802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Speaking with the data collector, or having done the data collection yourself, you will be aware of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type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of each answer and some typical answers. </a:t>
            </a:r>
          </a:p>
          <a:p>
            <a:r>
              <a:rPr lang="en-GB" dirty="0"/>
              <a:t>As we can see, all the entries in the gender are </a:t>
            </a:r>
            <a:r>
              <a:rPr lang="en-GB" i="1" dirty="0"/>
              <a:t>strings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1350E-3263-802B-7C39-07B32D6D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unique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A05F6-CAAA-89F9-819B-AE888E56D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4432300"/>
            <a:ext cx="7035800" cy="24257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8E0414-53A2-E643-EF7B-32D38707F507}"/>
              </a:ext>
            </a:extLst>
          </p:cNvPr>
          <p:cNvCxnSpPr>
            <a:cxnSpLocks/>
          </p:cNvCxnSpPr>
          <p:nvPr/>
        </p:nvCxnSpPr>
        <p:spPr>
          <a:xfrm>
            <a:off x="4065872" y="5186564"/>
            <a:ext cx="1353151" cy="11502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41178D-C704-9608-3319-610F05455EC0}"/>
              </a:ext>
            </a:extLst>
          </p:cNvPr>
          <p:cNvCxnSpPr>
            <a:cxnSpLocks/>
          </p:cNvCxnSpPr>
          <p:nvPr/>
        </p:nvCxnSpPr>
        <p:spPr>
          <a:xfrm flipV="1">
            <a:off x="4065872" y="4764548"/>
            <a:ext cx="1487905" cy="422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397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29C01-E739-4CD0-CE8E-F36642BB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838066"/>
            <a:ext cx="4572802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Speaking with the data collector, or having done the data collection yourself, you will be aware of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type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of each answer and some typical answers. </a:t>
            </a:r>
          </a:p>
          <a:p>
            <a:r>
              <a:rPr lang="en-GB" dirty="0"/>
              <a:t>As we can see, all the entries in the gender are </a:t>
            </a:r>
            <a:r>
              <a:rPr lang="en-GB" i="1" dirty="0"/>
              <a:t>strings</a:t>
            </a:r>
            <a:r>
              <a:rPr lang="en-GB" dirty="0"/>
              <a:t> and the answers all seem reasonable.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1350E-3263-802B-7C39-07B32D6D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unique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A05F6-CAAA-89F9-819B-AE888E56D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4432300"/>
            <a:ext cx="7035800" cy="2425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A8DAC2-7226-6372-9608-5BC90C0D6538}"/>
              </a:ext>
            </a:extLst>
          </p:cNvPr>
          <p:cNvCxnSpPr>
            <a:cxnSpLocks/>
          </p:cNvCxnSpPr>
          <p:nvPr/>
        </p:nvCxnSpPr>
        <p:spPr>
          <a:xfrm>
            <a:off x="2581310" y="5645150"/>
            <a:ext cx="2645208" cy="1121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C7C45E-BE37-8E2D-861C-DFF195FE0E90}"/>
              </a:ext>
            </a:extLst>
          </p:cNvPr>
          <p:cNvCxnSpPr>
            <a:cxnSpLocks/>
          </p:cNvCxnSpPr>
          <p:nvPr/>
        </p:nvCxnSpPr>
        <p:spPr>
          <a:xfrm flipV="1">
            <a:off x="2581310" y="4970009"/>
            <a:ext cx="2972467" cy="675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5513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29C01-E739-4CD0-CE8E-F36642BB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838066"/>
            <a:ext cx="4572802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Speaking with the data collector, or having done the data collection yourself, you will be aware of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type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of each answer and some typical answers. 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As we can see, all the entries in the gender are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strings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and the answers all seem reasonable.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1350E-3263-802B-7C39-07B32D6D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unique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A05F6-CAAA-89F9-819B-AE888E56D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4432300"/>
            <a:ext cx="7035800" cy="24257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43C95EB-34B1-545C-E27F-5FD48441BBF2}"/>
              </a:ext>
            </a:extLst>
          </p:cNvPr>
          <p:cNvGrpSpPr/>
          <p:nvPr/>
        </p:nvGrpSpPr>
        <p:grpSpPr>
          <a:xfrm>
            <a:off x="8566484" y="4144915"/>
            <a:ext cx="3625516" cy="667716"/>
            <a:chOff x="2390273" y="4067914"/>
            <a:chExt cx="3625516" cy="66771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FD3B9A-FC79-ABC4-5B5A-C4F0A56BFEC6}"/>
                </a:ext>
              </a:extLst>
            </p:cNvPr>
            <p:cNvSpPr/>
            <p:nvPr/>
          </p:nvSpPr>
          <p:spPr>
            <a:xfrm>
              <a:off x="2390273" y="4456498"/>
              <a:ext cx="3625516" cy="2791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6A4A05-79D9-4792-1476-35E5DC0F79CD}"/>
                </a:ext>
              </a:extLst>
            </p:cNvPr>
            <p:cNvSpPr txBox="1"/>
            <p:nvPr/>
          </p:nvSpPr>
          <p:spPr>
            <a:xfrm>
              <a:off x="5120640" y="4067914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TOP TIP</a:t>
              </a:r>
            </a:p>
          </p:txBody>
        </p:sp>
      </p:grp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228FE943-414D-8141-7CFB-03DABB2BFC14}"/>
              </a:ext>
            </a:extLst>
          </p:cNvPr>
          <p:cNvSpPr txBox="1">
            <a:spLocks/>
          </p:cNvSpPr>
          <p:nvPr/>
        </p:nvSpPr>
        <p:spPr>
          <a:xfrm>
            <a:off x="6342245" y="1825625"/>
            <a:ext cx="5506453" cy="2188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This is called a </a:t>
            </a:r>
            <a:r>
              <a:rPr lang="en-GB" i="1" dirty="0"/>
              <a:t>list comprehension</a:t>
            </a:r>
            <a:r>
              <a:rPr lang="en-GB" dirty="0"/>
              <a:t>.</a:t>
            </a:r>
          </a:p>
          <a:p>
            <a:r>
              <a:rPr lang="en-GB" dirty="0"/>
              <a:t>It is useful for quickly creating a </a:t>
            </a:r>
            <a:r>
              <a:rPr lang="en-GB" i="1" dirty="0"/>
              <a:t>list</a:t>
            </a:r>
            <a:r>
              <a:rPr lang="en-GB" dirty="0"/>
              <a:t> rather than doing a </a:t>
            </a:r>
            <a:r>
              <a:rPr lang="en-GB" i="1" dirty="0"/>
              <a:t>for loop</a:t>
            </a:r>
            <a:r>
              <a:rPr lang="en-GB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C95AD8-ABD9-839E-4643-918086B4F44F}"/>
              </a:ext>
            </a:extLst>
          </p:cNvPr>
          <p:cNvCxnSpPr/>
          <p:nvPr/>
        </p:nvCxnSpPr>
        <p:spPr>
          <a:xfrm flipH="1">
            <a:off x="10366408" y="2213811"/>
            <a:ext cx="987392" cy="23004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6223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29C01-E739-4CD0-CE8E-F36642BB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838066"/>
            <a:ext cx="4572802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Speaking with the data collector, or having done the data collection yourself, you will be aware of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type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of each answer and some typical answers. 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As we can see, all the entries in the gender are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strings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and the answers all seem reasonable.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1350E-3263-802B-7C39-07B32D6D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apply </a:t>
            </a:r>
            <a:r>
              <a:rPr lang="en-GB" dirty="0"/>
              <a:t>and </a:t>
            </a:r>
            <a:r>
              <a:rPr lang="en-GB" i="1" dirty="0"/>
              <a:t>lambda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228FE943-414D-8141-7CFB-03DABB2BFC14}"/>
              </a:ext>
            </a:extLst>
          </p:cNvPr>
          <p:cNvSpPr txBox="1">
            <a:spLocks/>
          </p:cNvSpPr>
          <p:nvPr/>
        </p:nvSpPr>
        <p:spPr>
          <a:xfrm>
            <a:off x="6342245" y="1825624"/>
            <a:ext cx="5506453" cy="3795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Rather than creating a new list, you can use </a:t>
            </a:r>
            <a:r>
              <a:rPr lang="en-GB" i="1" dirty="0"/>
              <a:t>apply </a:t>
            </a:r>
            <a:r>
              <a:rPr lang="en-GB" dirty="0"/>
              <a:t>and </a:t>
            </a:r>
            <a:r>
              <a:rPr lang="en-GB" i="1" dirty="0"/>
              <a:t>lambda. </a:t>
            </a:r>
          </a:p>
          <a:p>
            <a:r>
              <a:rPr lang="en-GB" i="1" dirty="0"/>
              <a:t>apply </a:t>
            </a:r>
            <a:r>
              <a:rPr lang="en-GB" dirty="0"/>
              <a:t>takes a </a:t>
            </a:r>
            <a:r>
              <a:rPr lang="en-GB" i="1" dirty="0"/>
              <a:t>series</a:t>
            </a:r>
            <a:r>
              <a:rPr lang="en-GB" dirty="0"/>
              <a:t> and applies a </a:t>
            </a:r>
            <a:r>
              <a:rPr lang="en-GB" i="1" dirty="0"/>
              <a:t>method</a:t>
            </a:r>
            <a:r>
              <a:rPr lang="en-GB" dirty="0"/>
              <a:t> to each entry.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3C108-4B82-1E57-6408-633051F37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5774757"/>
            <a:ext cx="5727700" cy="1104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7DCB06-3F97-CF27-5490-445360ACB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2875"/>
            <a:ext cx="5400072" cy="38678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5861A6-8361-2D7F-154A-4AB96F35FA6F}"/>
              </a:ext>
            </a:extLst>
          </p:cNvPr>
          <p:cNvCxnSpPr/>
          <p:nvPr/>
        </p:nvCxnSpPr>
        <p:spPr>
          <a:xfrm>
            <a:off x="7093819" y="3609474"/>
            <a:ext cx="1867301" cy="22715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3175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29C01-E739-4CD0-CE8E-F36642BB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838066"/>
            <a:ext cx="4572802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Speaking with the data collector, or having done the data collection yourself, you will be aware of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type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of each answer and some typical answers. 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As we can see, all the entries in the gender are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strings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and the answers all seem reasonable.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1350E-3263-802B-7C39-07B32D6D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</a:t>
            </a:r>
            <a:r>
              <a:rPr lang="en-GB" i="1" dirty="0"/>
              <a:t> apply </a:t>
            </a:r>
            <a:r>
              <a:rPr lang="en-GB" dirty="0"/>
              <a:t>and </a:t>
            </a:r>
            <a:r>
              <a:rPr lang="en-GB" i="1" dirty="0"/>
              <a:t>lambda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228FE943-414D-8141-7CFB-03DABB2BFC14}"/>
              </a:ext>
            </a:extLst>
          </p:cNvPr>
          <p:cNvSpPr txBox="1">
            <a:spLocks/>
          </p:cNvSpPr>
          <p:nvPr/>
        </p:nvSpPr>
        <p:spPr>
          <a:xfrm>
            <a:off x="6342245" y="1825624"/>
            <a:ext cx="5506453" cy="3795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Rather than creating a new list, you can use </a:t>
            </a:r>
            <a:r>
              <a:rPr lang="en-GB" i="1" dirty="0"/>
              <a:t>apply </a:t>
            </a:r>
            <a:r>
              <a:rPr lang="en-GB" dirty="0"/>
              <a:t>and </a:t>
            </a:r>
            <a:r>
              <a:rPr lang="en-GB" i="1" dirty="0"/>
              <a:t>lambda. </a:t>
            </a:r>
          </a:p>
          <a:p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apply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takes a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series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and applies a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method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each entry.</a:t>
            </a:r>
          </a:p>
          <a:p>
            <a:r>
              <a:rPr lang="en-GB" i="1" dirty="0"/>
              <a:t>lambda </a:t>
            </a:r>
            <a:r>
              <a:rPr lang="en-GB" dirty="0"/>
              <a:t>is an anonymous function, here it takes a value x and checks if it is an instance of a </a:t>
            </a:r>
            <a:r>
              <a:rPr lang="en-GB" i="1" dirty="0"/>
              <a:t>str</a:t>
            </a:r>
            <a:r>
              <a:rPr lang="en-GB" dirty="0"/>
              <a:t>. Using </a:t>
            </a:r>
            <a:r>
              <a:rPr lang="en-GB" i="1" dirty="0"/>
              <a:t>lambda </a:t>
            </a:r>
            <a:r>
              <a:rPr lang="en-GB" dirty="0"/>
              <a:t>is shorthand for writing a function</a:t>
            </a:r>
            <a:endParaRPr lang="en-GB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3C108-4B82-1E57-6408-633051F37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5774757"/>
            <a:ext cx="5727700" cy="1104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7DCB06-3F97-CF27-5490-445360ACB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92875"/>
            <a:ext cx="5400072" cy="38678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FC5855-3CFB-36C9-8556-D28F59A0654A}"/>
              </a:ext>
            </a:extLst>
          </p:cNvPr>
          <p:cNvCxnSpPr/>
          <p:nvPr/>
        </p:nvCxnSpPr>
        <p:spPr>
          <a:xfrm>
            <a:off x="10048775" y="5207267"/>
            <a:ext cx="192505" cy="6833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7229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61DB5-C769-750E-8EF0-D43602B04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82" y="1815999"/>
            <a:ext cx="5257800" cy="4351338"/>
          </a:xfrm>
        </p:spPr>
        <p:txBody>
          <a:bodyPr/>
          <a:lstStyle/>
          <a:p>
            <a:r>
              <a:rPr lang="en-GB" dirty="0"/>
              <a:t>We can see that the entries for </a:t>
            </a:r>
            <a:r>
              <a:rPr lang="en-GB" i="1" dirty="0" err="1"/>
              <a:t>eye_colour</a:t>
            </a:r>
            <a:r>
              <a:rPr lang="en-GB" i="1" dirty="0"/>
              <a:t> </a:t>
            </a:r>
            <a:r>
              <a:rPr lang="en-GB" dirty="0"/>
              <a:t>are messy.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EA816E-A4E5-CA50-B5AA-CF52A663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unique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B25D13-6824-EC2E-FB62-AFB8D3873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1345264"/>
            <a:ext cx="68072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993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FEA1DA3-45DA-4932-0438-B2CA14211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971" y="1316634"/>
            <a:ext cx="4126029" cy="555808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61DB5-C769-750E-8EF0-D43602B04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82" y="1815999"/>
            <a:ext cx="5257800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see that the entries for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eye_colour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are messy.</a:t>
            </a:r>
          </a:p>
          <a:p>
            <a:r>
              <a:rPr lang="en-GB" dirty="0"/>
              <a:t>We can use </a:t>
            </a:r>
            <a:r>
              <a:rPr lang="en-GB" i="1" dirty="0" err="1"/>
              <a:t>value_counts</a:t>
            </a:r>
            <a:r>
              <a:rPr lang="en-GB" dirty="0"/>
              <a:t> to get the </a:t>
            </a:r>
            <a:r>
              <a:rPr lang="en-GB" i="1" dirty="0"/>
              <a:t>unique </a:t>
            </a:r>
            <a:r>
              <a:rPr lang="en-GB" dirty="0"/>
              <a:t>entries and their </a:t>
            </a:r>
            <a:r>
              <a:rPr lang="en-GB" i="1" dirty="0"/>
              <a:t>counts.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EA816E-A4E5-CA50-B5AA-CF52A663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value_counts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CFB4FC-A7B3-2FF6-F2FF-8695757A7D18}"/>
              </a:ext>
            </a:extLst>
          </p:cNvPr>
          <p:cNvCxnSpPr/>
          <p:nvPr/>
        </p:nvCxnSpPr>
        <p:spPr>
          <a:xfrm flipV="1">
            <a:off x="4129238" y="1934678"/>
            <a:ext cx="4254366" cy="8277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3586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FEA1DA3-45DA-4932-0438-B2CA14211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971" y="1316634"/>
            <a:ext cx="4126029" cy="555808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61DB5-C769-750E-8EF0-D43602B04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682" y="1815999"/>
            <a:ext cx="5257800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see that the entries for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eye_colour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are messy.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use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value_counts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get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unique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entries and their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counts.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/>
              <a:t>Remember, we need to write down what we are edited, for example that we have edited 13 out of 51 entries from brown to Brown. </a:t>
            </a:r>
          </a:p>
          <a:p>
            <a:r>
              <a:rPr lang="en-GB" i="1" dirty="0" err="1"/>
              <a:t>len</a:t>
            </a:r>
            <a:r>
              <a:rPr lang="en-GB" i="1" dirty="0"/>
              <a:t> </a:t>
            </a:r>
            <a:r>
              <a:rPr lang="en-GB" dirty="0"/>
              <a:t>provides a quick way to calculate the number of rows.</a:t>
            </a:r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EA816E-A4E5-CA50-B5AA-CF52A663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 err="1"/>
              <a:t>value_counts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85F65A-F5E9-AD21-E820-16562C2CFAA0}"/>
              </a:ext>
            </a:extLst>
          </p:cNvPr>
          <p:cNvGrpSpPr/>
          <p:nvPr/>
        </p:nvGrpSpPr>
        <p:grpSpPr>
          <a:xfrm>
            <a:off x="8479857" y="1398301"/>
            <a:ext cx="2387533" cy="369332"/>
            <a:chOff x="5495557" y="4366298"/>
            <a:chExt cx="2387533" cy="3693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4659D8-A273-6059-225F-14BE2629E9C0}"/>
                </a:ext>
              </a:extLst>
            </p:cNvPr>
            <p:cNvSpPr/>
            <p:nvPr/>
          </p:nvSpPr>
          <p:spPr>
            <a:xfrm>
              <a:off x="5495557" y="4456498"/>
              <a:ext cx="1492384" cy="2791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2A655F-4C56-09B2-0AA9-871B1538B097}"/>
                </a:ext>
              </a:extLst>
            </p:cNvPr>
            <p:cNvSpPr txBox="1"/>
            <p:nvPr/>
          </p:nvSpPr>
          <p:spPr>
            <a:xfrm>
              <a:off x="6987941" y="4366298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3246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CE2440BE-5642-4A41-B032-A974D27B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1345264"/>
            <a:ext cx="6807200" cy="1549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2ECC71C-F1A9-43FA-C05B-27C7B2343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10" y="2870890"/>
            <a:ext cx="6422190" cy="398711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A8854D-64F4-33EC-DDCF-14E10080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564" cy="4351338"/>
          </a:xfrm>
        </p:spPr>
        <p:txBody>
          <a:bodyPr/>
          <a:lstStyle/>
          <a:p>
            <a:r>
              <a:rPr lang="en-GB" dirty="0"/>
              <a:t>Judging by the </a:t>
            </a:r>
            <a:r>
              <a:rPr lang="en-GB" i="1" dirty="0"/>
              <a:t>unique</a:t>
            </a:r>
            <a:r>
              <a:rPr lang="en-GB" dirty="0"/>
              <a:t> values, we will need to</a:t>
            </a:r>
          </a:p>
          <a:p>
            <a:pPr lvl="1"/>
            <a:r>
              <a:rPr lang="en-GB" dirty="0"/>
              <a:t>Change spelling of </a:t>
            </a:r>
            <a:r>
              <a:rPr lang="en-GB" i="1" dirty="0" err="1"/>
              <a:t>borwn</a:t>
            </a:r>
            <a:r>
              <a:rPr lang="en-GB" i="1" dirty="0"/>
              <a:t>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FBA09-8596-C97B-F26C-2538D6719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apply </a:t>
            </a:r>
            <a:r>
              <a:rPr lang="en-GB" dirty="0"/>
              <a:t>and</a:t>
            </a:r>
            <a:r>
              <a:rPr lang="en-GB" i="1" dirty="0"/>
              <a:t> filtering</a:t>
            </a:r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56A123-1665-A545-9030-17E1A1BB3DAD}"/>
              </a:ext>
            </a:extLst>
          </p:cNvPr>
          <p:cNvCxnSpPr>
            <a:cxnSpLocks/>
          </p:cNvCxnSpPr>
          <p:nvPr/>
        </p:nvCxnSpPr>
        <p:spPr>
          <a:xfrm>
            <a:off x="4804980" y="2887704"/>
            <a:ext cx="1143433" cy="2540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1900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CE2440BE-5642-4A41-B032-A974D27B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1345264"/>
            <a:ext cx="6807200" cy="1549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2ECC71C-F1A9-43FA-C05B-27C7B2343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10" y="2870890"/>
            <a:ext cx="6422190" cy="398711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A8854D-64F4-33EC-DDCF-14E10080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564" cy="4351338"/>
          </a:xfrm>
        </p:spPr>
        <p:txBody>
          <a:bodyPr/>
          <a:lstStyle/>
          <a:p>
            <a:r>
              <a:rPr lang="en-GB" dirty="0"/>
              <a:t>Judging by the </a:t>
            </a:r>
            <a:r>
              <a:rPr lang="en-GB" i="1" dirty="0"/>
              <a:t>unique</a:t>
            </a:r>
            <a:r>
              <a:rPr lang="en-GB" dirty="0"/>
              <a:t> values,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Change spelling of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borwn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GB" i="1" dirty="0"/>
              <a:t>Capitalise</a:t>
            </a:r>
            <a:r>
              <a:rPr lang="en-GB" dirty="0"/>
              <a:t> the first letter.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FBA09-8596-C97B-F26C-2538D6719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apply </a:t>
            </a:r>
            <a:r>
              <a:rPr lang="en-GB" dirty="0"/>
              <a:t>and</a:t>
            </a:r>
            <a:r>
              <a:rPr lang="en-GB" i="1" dirty="0"/>
              <a:t> filtering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E53558-958C-CE5C-5DEA-A00787B60FC9}"/>
              </a:ext>
            </a:extLst>
          </p:cNvPr>
          <p:cNvCxnSpPr>
            <a:cxnSpLocks/>
          </p:cNvCxnSpPr>
          <p:nvPr/>
        </p:nvCxnSpPr>
        <p:spPr>
          <a:xfrm>
            <a:off x="3850105" y="3428998"/>
            <a:ext cx="20983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5769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CE2440BE-5642-4A41-B032-A974D27B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1345264"/>
            <a:ext cx="6807200" cy="1549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2ECC71C-F1A9-43FA-C05B-27C7B2343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10" y="2870890"/>
            <a:ext cx="6422190" cy="398711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A8854D-64F4-33EC-DDCF-14E10080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564" cy="4351338"/>
          </a:xfrm>
        </p:spPr>
        <p:txBody>
          <a:bodyPr/>
          <a:lstStyle/>
          <a:p>
            <a:r>
              <a:rPr lang="en-GB" dirty="0"/>
              <a:t>Judging by the </a:t>
            </a:r>
            <a:r>
              <a:rPr lang="en-GB" i="1" dirty="0"/>
              <a:t>unique</a:t>
            </a:r>
            <a:r>
              <a:rPr lang="en-GB" dirty="0"/>
              <a:t> values,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Change spelling of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borwn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Capitalise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the first letter.</a:t>
            </a:r>
          </a:p>
          <a:p>
            <a:pPr lvl="1"/>
            <a:r>
              <a:rPr lang="en-GB" i="1" dirty="0"/>
              <a:t>Strip </a:t>
            </a:r>
            <a:r>
              <a:rPr lang="en-GB" dirty="0"/>
              <a:t>whitespace.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FBA09-8596-C97B-F26C-2538D6719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apply </a:t>
            </a:r>
            <a:r>
              <a:rPr lang="en-GB" dirty="0"/>
              <a:t>and</a:t>
            </a:r>
            <a:r>
              <a:rPr lang="en-GB" i="1" dirty="0"/>
              <a:t> filtering</a:t>
            </a:r>
            <a:endParaRPr lang="en-GB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E38584-BDCC-021E-D163-18B7BC33B595}"/>
              </a:ext>
            </a:extLst>
          </p:cNvPr>
          <p:cNvCxnSpPr>
            <a:cxnSpLocks/>
          </p:cNvCxnSpPr>
          <p:nvPr/>
        </p:nvCxnSpPr>
        <p:spPr>
          <a:xfrm flipV="1">
            <a:off x="3715352" y="3705726"/>
            <a:ext cx="2233061" cy="830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2706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CE2440BE-5642-4A41-B032-A974D27B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1345264"/>
            <a:ext cx="6807200" cy="1549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2ECC71C-F1A9-43FA-C05B-27C7B2343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10" y="2870890"/>
            <a:ext cx="6422190" cy="398711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A8854D-64F4-33EC-DDCF-14E10080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564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Judging by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unique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values,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Change spelling of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borwn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Capitalise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the first letter.</a:t>
            </a:r>
          </a:p>
          <a:p>
            <a:pPr lvl="1"/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Strip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whitespace.</a:t>
            </a:r>
          </a:p>
          <a:p>
            <a:r>
              <a:rPr lang="en-GB" i="1" dirty="0" err="1"/>
              <a:t>loc</a:t>
            </a:r>
            <a:r>
              <a:rPr lang="en-GB" i="1" dirty="0"/>
              <a:t> </a:t>
            </a:r>
            <a:r>
              <a:rPr lang="en-GB" dirty="0"/>
              <a:t>is the </a:t>
            </a:r>
            <a:r>
              <a:rPr lang="en-GB" i="1" dirty="0"/>
              <a:t>pandas </a:t>
            </a:r>
            <a:r>
              <a:rPr lang="en-GB" dirty="0"/>
              <a:t>method for us to extract and change local entries given </a:t>
            </a:r>
            <a:r>
              <a:rPr lang="en-GB" i="1" dirty="0"/>
              <a:t>row</a:t>
            </a:r>
            <a:r>
              <a:rPr lang="en-GB" dirty="0"/>
              <a:t> information</a:t>
            </a:r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FBA09-8596-C97B-F26C-2538D6719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apply </a:t>
            </a:r>
            <a:r>
              <a:rPr lang="en-GB" dirty="0"/>
              <a:t>and</a:t>
            </a:r>
            <a:r>
              <a:rPr lang="en-GB" i="1" dirty="0"/>
              <a:t> filtering</a:t>
            </a:r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3CDC820-163B-7A7B-E675-303034D187CF}"/>
              </a:ext>
            </a:extLst>
          </p:cNvPr>
          <p:cNvGrpSpPr/>
          <p:nvPr/>
        </p:nvGrpSpPr>
        <p:grpSpPr>
          <a:xfrm>
            <a:off x="6114837" y="2623732"/>
            <a:ext cx="5416228" cy="657566"/>
            <a:chOff x="2390272" y="4078064"/>
            <a:chExt cx="5073088" cy="65756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B9EBF0-4CFF-4637-B834-8010D5BB5F92}"/>
                </a:ext>
              </a:extLst>
            </p:cNvPr>
            <p:cNvSpPr/>
            <p:nvPr/>
          </p:nvSpPr>
          <p:spPr>
            <a:xfrm>
              <a:off x="2390272" y="4456498"/>
              <a:ext cx="5073088" cy="2791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6914B3-5BE9-7D92-0FCC-4DEAB17BFA34}"/>
                </a:ext>
              </a:extLst>
            </p:cNvPr>
            <p:cNvSpPr txBox="1"/>
            <p:nvPr/>
          </p:nvSpPr>
          <p:spPr>
            <a:xfrm>
              <a:off x="6568211" y="4078064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1932E4-4D59-D4F5-9648-B43E6830B5F5}"/>
              </a:ext>
            </a:extLst>
          </p:cNvPr>
          <p:cNvCxnSpPr>
            <a:cxnSpLocks/>
          </p:cNvCxnSpPr>
          <p:nvPr/>
        </p:nvCxnSpPr>
        <p:spPr>
          <a:xfrm flipV="1">
            <a:off x="1511166" y="3290400"/>
            <a:ext cx="6506678" cy="18494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5683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CE2440BE-5642-4A41-B032-A974D27B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1345264"/>
            <a:ext cx="6807200" cy="1549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2ECC71C-F1A9-43FA-C05B-27C7B2343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10" y="2870890"/>
            <a:ext cx="6422190" cy="398711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A8854D-64F4-33EC-DDCF-14E10080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564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Judging by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unique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values,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Change spelling of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borwn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Capitalise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the first letter</a:t>
            </a:r>
          </a:p>
          <a:p>
            <a:pPr lvl="1"/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Strip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whitespace</a:t>
            </a:r>
          </a:p>
          <a:p>
            <a:r>
              <a:rPr lang="en-GB" i="1" dirty="0" err="1"/>
              <a:t>loc</a:t>
            </a:r>
            <a:r>
              <a:rPr lang="en-GB" i="1" dirty="0"/>
              <a:t> </a:t>
            </a:r>
            <a:r>
              <a:rPr lang="en-GB" dirty="0"/>
              <a:t>is the </a:t>
            </a:r>
            <a:r>
              <a:rPr lang="en-GB" i="1" dirty="0"/>
              <a:t>pandas </a:t>
            </a:r>
            <a:r>
              <a:rPr lang="en-GB" dirty="0"/>
              <a:t>method for us to extract and change local entries given </a:t>
            </a:r>
            <a:r>
              <a:rPr lang="en-GB" i="1" dirty="0"/>
              <a:t>row</a:t>
            </a:r>
            <a:r>
              <a:rPr lang="en-GB" dirty="0"/>
              <a:t> information and </a:t>
            </a:r>
            <a:r>
              <a:rPr lang="en-GB" i="1" dirty="0"/>
              <a:t>column</a:t>
            </a:r>
            <a:r>
              <a:rPr lang="en-GB" dirty="0"/>
              <a:t> information.</a:t>
            </a:r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FBA09-8596-C97B-F26C-2538D6719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apply </a:t>
            </a:r>
            <a:r>
              <a:rPr lang="en-GB" dirty="0"/>
              <a:t>and</a:t>
            </a:r>
            <a:r>
              <a:rPr lang="en-GB" i="1" dirty="0"/>
              <a:t> filtering</a:t>
            </a:r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3CDC820-163B-7A7B-E675-303034D187CF}"/>
              </a:ext>
            </a:extLst>
          </p:cNvPr>
          <p:cNvGrpSpPr/>
          <p:nvPr/>
        </p:nvGrpSpPr>
        <p:grpSpPr>
          <a:xfrm>
            <a:off x="6114837" y="2623732"/>
            <a:ext cx="5416228" cy="657566"/>
            <a:chOff x="2390272" y="4078064"/>
            <a:chExt cx="5073088" cy="65756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B9EBF0-4CFF-4637-B834-8010D5BB5F92}"/>
                </a:ext>
              </a:extLst>
            </p:cNvPr>
            <p:cNvSpPr/>
            <p:nvPr/>
          </p:nvSpPr>
          <p:spPr>
            <a:xfrm>
              <a:off x="2390272" y="4456498"/>
              <a:ext cx="5073088" cy="2791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6914B3-5BE9-7D92-0FCC-4DEAB17BFA34}"/>
                </a:ext>
              </a:extLst>
            </p:cNvPr>
            <p:cNvSpPr txBox="1"/>
            <p:nvPr/>
          </p:nvSpPr>
          <p:spPr>
            <a:xfrm>
              <a:off x="6568211" y="4078064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6E5F82-25CF-68C2-FE81-E0153C076619}"/>
              </a:ext>
            </a:extLst>
          </p:cNvPr>
          <p:cNvCxnSpPr>
            <a:cxnSpLocks/>
          </p:cNvCxnSpPr>
          <p:nvPr/>
        </p:nvCxnSpPr>
        <p:spPr>
          <a:xfrm flipV="1">
            <a:off x="1925053" y="3276669"/>
            <a:ext cx="7854214" cy="22360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1535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37" y="1475380"/>
            <a:ext cx="4970780" cy="4351338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9A0F237-30A8-C8F3-B19B-876F89A5D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494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F798D42F-73E4-BA30-94F9-83914E58F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326581"/>
            <a:ext cx="6400800" cy="18669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13" y="1456130"/>
            <a:ext cx="4816776" cy="4351338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  <a:p>
            <a:r>
              <a:rPr lang="en-GB" dirty="0"/>
              <a:t>We need to convert the </a:t>
            </a:r>
            <a:r>
              <a:rPr lang="en-GB" i="1" dirty="0"/>
              <a:t>series </a:t>
            </a:r>
            <a:r>
              <a:rPr lang="en-GB" dirty="0"/>
              <a:t>to floats, however this will be trouble!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5385D5-104D-C1AD-EF7F-31EC5D248410}"/>
              </a:ext>
            </a:extLst>
          </p:cNvPr>
          <p:cNvSpPr/>
          <p:nvPr/>
        </p:nvSpPr>
        <p:spPr>
          <a:xfrm>
            <a:off x="5791200" y="4668253"/>
            <a:ext cx="6451600" cy="1632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9A0F237-30A8-C8F3-B19B-876F89A5D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8673D5-A932-DDB8-4155-6DA4C6E6E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5208971"/>
            <a:ext cx="50673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432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50" y="1421363"/>
            <a:ext cx="5225450" cy="4863933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What about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commute_mins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?</a:t>
            </a:r>
          </a:p>
          <a:p>
            <a:r>
              <a:rPr lang="en-GB" dirty="0"/>
              <a:t>We can see that we will need to</a:t>
            </a:r>
          </a:p>
          <a:p>
            <a:pPr lvl="1"/>
            <a:r>
              <a:rPr lang="en-GB" dirty="0"/>
              <a:t>Remove “min” and “minute” from entries.</a:t>
            </a:r>
          </a:p>
          <a:p>
            <a:pPr lvl="1"/>
            <a:r>
              <a:rPr lang="en-GB" dirty="0"/>
              <a:t>Remove “hrs” and “hour” from entries.</a:t>
            </a:r>
          </a:p>
          <a:p>
            <a:pPr lvl="1"/>
            <a:r>
              <a:rPr lang="en-GB" dirty="0"/>
              <a:t>Remove “</a:t>
            </a:r>
            <a:r>
              <a:rPr lang="en-GB" dirty="0" err="1"/>
              <a:t>apx</a:t>
            </a:r>
            <a:r>
              <a:rPr lang="en-GB" dirty="0"/>
              <a:t>.” from entries.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Post lecture addition: convert from hours to minutes.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8B2DE7-0068-EE2F-549D-30B09ED0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866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50" y="1421363"/>
            <a:ext cx="5225450" cy="4863933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What about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commute_mins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?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see that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“min” and “minute”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“hrs” and “hour”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apx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.” from entries.</a:t>
            </a:r>
          </a:p>
          <a:p>
            <a:pPr lvl="1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Post lecture addition: convert from hours to minutes. </a:t>
            </a:r>
          </a:p>
          <a:p>
            <a:r>
              <a:rPr lang="en-GB" dirty="0"/>
              <a:t>We cannot, and should not, assume what the data collector would want instead of the entries that contain “campus”!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8B2DE7-0068-EE2F-549D-30B09ED0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384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715085F-7AE2-04C2-C637-D49F7A32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04" y="3076639"/>
            <a:ext cx="5637196" cy="385067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16" y="1402112"/>
            <a:ext cx="5210057" cy="545588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What about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commute_mins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?</a:t>
            </a:r>
          </a:p>
          <a:p>
            <a:r>
              <a:rPr lang="en-GB" dirty="0"/>
              <a:t>We can see that we will need to</a:t>
            </a:r>
          </a:p>
          <a:p>
            <a:pPr lvl="1"/>
            <a:r>
              <a:rPr lang="en-GB" dirty="0"/>
              <a:t>Remove “min” and “minute” from entries.</a:t>
            </a:r>
          </a:p>
          <a:p>
            <a:pPr lvl="1"/>
            <a:r>
              <a:rPr lang="en-GB" dirty="0"/>
              <a:t>Remove “hrs” and “hour” from entries.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0615CD07-7C5B-E6AA-EFE9-A5345C1155C1}"/>
              </a:ext>
            </a:extLst>
          </p:cNvPr>
          <p:cNvSpPr/>
          <p:nvPr/>
        </p:nvSpPr>
        <p:spPr>
          <a:xfrm>
            <a:off x="5189812" y="2578274"/>
            <a:ext cx="419921" cy="1252406"/>
          </a:xfrm>
          <a:prstGeom prst="righ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DB909E-53E1-01D3-E909-A2414B9F8764}"/>
              </a:ext>
            </a:extLst>
          </p:cNvPr>
          <p:cNvCxnSpPr>
            <a:cxnSpLocks/>
            <a:stCxn id="20" idx="1"/>
          </p:cNvCxnSpPr>
          <p:nvPr/>
        </p:nvCxnSpPr>
        <p:spPr>
          <a:xfrm>
            <a:off x="5609733" y="3204477"/>
            <a:ext cx="1870510" cy="1093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3D55714C-0982-9DA7-F2B4-E1872B6D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167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715085F-7AE2-04C2-C637-D49F7A32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04" y="3076639"/>
            <a:ext cx="5637196" cy="385067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17" y="1402112"/>
            <a:ext cx="5283983" cy="545588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What about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commute_mins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?</a:t>
            </a:r>
          </a:p>
          <a:p>
            <a:r>
              <a:rPr lang="en-GB" dirty="0"/>
              <a:t>We can see that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“min” and “minute”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“hrs” and “hour” from entries.</a:t>
            </a:r>
          </a:p>
          <a:p>
            <a:r>
              <a:rPr lang="en-GB" dirty="0"/>
              <a:t>This is called an inline </a:t>
            </a:r>
            <a:r>
              <a:rPr lang="en-GB" i="1" dirty="0"/>
              <a:t>if statement.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D55714C-0982-9DA7-F2B4-E1872B6D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03CEE30-6395-89C3-DB55-40EFF2952D82}"/>
              </a:ext>
            </a:extLst>
          </p:cNvPr>
          <p:cNvGrpSpPr/>
          <p:nvPr/>
        </p:nvGrpSpPr>
        <p:grpSpPr>
          <a:xfrm>
            <a:off x="6712219" y="4455252"/>
            <a:ext cx="5479781" cy="347754"/>
            <a:chOff x="1421332" y="4515838"/>
            <a:chExt cx="5266084" cy="36933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9819D6B-8AB5-8D56-0FE7-7AE7E90870AF}"/>
                </a:ext>
              </a:extLst>
            </p:cNvPr>
            <p:cNvSpPr/>
            <p:nvPr/>
          </p:nvSpPr>
          <p:spPr>
            <a:xfrm>
              <a:off x="2316481" y="4515838"/>
              <a:ext cx="4370935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DEC1E7E-A7A1-EC14-C58A-FD580BCF4FD2}"/>
                </a:ext>
              </a:extLst>
            </p:cNvPr>
            <p:cNvSpPr txBox="1"/>
            <p:nvPr/>
          </p:nvSpPr>
          <p:spPr>
            <a:xfrm>
              <a:off x="1421332" y="4515838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34376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715085F-7AE2-04C2-C637-D49F7A32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04" y="3076639"/>
            <a:ext cx="5637196" cy="385067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17" y="1402112"/>
            <a:ext cx="5283983" cy="5455888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  <a:p>
            <a:r>
              <a:rPr lang="en-GB" dirty="0"/>
              <a:t>We can see that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“min” and “minute”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“hrs” and “hour” from entries.</a:t>
            </a:r>
          </a:p>
          <a:p>
            <a:pPr lvl="1"/>
            <a:r>
              <a:rPr lang="en-GB" dirty="0"/>
              <a:t>Remove “</a:t>
            </a:r>
            <a:r>
              <a:rPr lang="en-GB" dirty="0" err="1"/>
              <a:t>apx</a:t>
            </a:r>
            <a:r>
              <a:rPr lang="en-GB" dirty="0"/>
              <a:t>.” from entries.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743C91-2BF6-441B-5220-36A17E85A908}"/>
              </a:ext>
            </a:extLst>
          </p:cNvPr>
          <p:cNvCxnSpPr>
            <a:cxnSpLocks/>
          </p:cNvCxnSpPr>
          <p:nvPr/>
        </p:nvCxnSpPr>
        <p:spPr>
          <a:xfrm>
            <a:off x="4475747" y="4109987"/>
            <a:ext cx="2396691" cy="12423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3D55714C-0982-9DA7-F2B4-E1872B6D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83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715085F-7AE2-04C2-C637-D49F7A32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04" y="3076639"/>
            <a:ext cx="5637196" cy="385067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17" y="1402112"/>
            <a:ext cx="5283983" cy="5455888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  <a:p>
            <a:r>
              <a:rPr lang="en-GB" dirty="0"/>
              <a:t>We can see that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“min” and “minute”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“hrs” and “hour”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apx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.” from entries.</a:t>
            </a:r>
            <a:endParaRPr lang="en-GB" dirty="0">
              <a:solidFill>
                <a:srgbClr val="0070C0"/>
              </a:solidFill>
            </a:endParaRPr>
          </a:p>
          <a:p>
            <a:pPr lvl="1"/>
            <a:r>
              <a:rPr lang="en-GB" dirty="0">
                <a:solidFill>
                  <a:srgbClr val="0070C0"/>
                </a:solidFill>
              </a:rPr>
              <a:t>Post lecture addition: convert from hours to minutes.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A4AF1B-0D18-3D07-34A1-A9766CB06E76}"/>
              </a:ext>
            </a:extLst>
          </p:cNvPr>
          <p:cNvCxnSpPr>
            <a:cxnSpLocks/>
          </p:cNvCxnSpPr>
          <p:nvPr/>
        </p:nvCxnSpPr>
        <p:spPr>
          <a:xfrm>
            <a:off x="4899259" y="4697128"/>
            <a:ext cx="41581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3D55714C-0982-9DA7-F2B4-E1872B6D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766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715085F-7AE2-04C2-C637-D49F7A32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04" y="3076639"/>
            <a:ext cx="5637196" cy="385067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17" y="1402112"/>
            <a:ext cx="5283983" cy="5455888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  <a:p>
            <a:r>
              <a:rPr lang="en-GB" dirty="0"/>
              <a:t>We can see that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“min” and “minute”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“hrs” and “hour”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apx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.” from entries.</a:t>
            </a:r>
          </a:p>
          <a:p>
            <a:pPr lvl="1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Post lecture addition: convert from hours to minutes. 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GB" dirty="0"/>
              <a:t>Change any entry involving “campus” to 0.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A4AF1B-0D18-3D07-34A1-A9766CB06E76}"/>
              </a:ext>
            </a:extLst>
          </p:cNvPr>
          <p:cNvCxnSpPr>
            <a:cxnSpLocks/>
          </p:cNvCxnSpPr>
          <p:nvPr/>
        </p:nvCxnSpPr>
        <p:spPr>
          <a:xfrm>
            <a:off x="3830855" y="5351646"/>
            <a:ext cx="3041583" cy="8007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3D55714C-0982-9DA7-F2B4-E1872B6D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534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715085F-7AE2-04C2-C637-D49F7A32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04" y="3076639"/>
            <a:ext cx="5637196" cy="385067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17" y="1402112"/>
            <a:ext cx="5283983" cy="5455888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  <a:p>
            <a:r>
              <a:rPr lang="en-GB" dirty="0"/>
              <a:t>We can see that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“min” and “minute”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“hrs” and “hour”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apx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.” from entries.</a:t>
            </a:r>
          </a:p>
          <a:p>
            <a:pPr lvl="1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Post lecture addition: convert from hours to minutes. 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Change any entry involving “campus” to 0.</a:t>
            </a:r>
          </a:p>
          <a:p>
            <a:pPr lvl="1"/>
            <a:r>
              <a:rPr lang="en-GB" dirty="0"/>
              <a:t>Convert all the entries to floats.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D55714C-0982-9DA7-F2B4-E1872B6D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B439AC-5376-ECE3-57BC-780D9E224A09}"/>
              </a:ext>
            </a:extLst>
          </p:cNvPr>
          <p:cNvCxnSpPr>
            <a:cxnSpLocks/>
          </p:cNvCxnSpPr>
          <p:nvPr/>
        </p:nvCxnSpPr>
        <p:spPr>
          <a:xfrm flipV="1">
            <a:off x="4889634" y="4360244"/>
            <a:ext cx="3561347" cy="14822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EB0BD8-65FD-D890-AD0E-B7B2A98D14C9}"/>
              </a:ext>
            </a:extLst>
          </p:cNvPr>
          <p:cNvCxnSpPr>
            <a:cxnSpLocks/>
          </p:cNvCxnSpPr>
          <p:nvPr/>
        </p:nvCxnSpPr>
        <p:spPr>
          <a:xfrm flipV="1">
            <a:off x="4889634" y="5621154"/>
            <a:ext cx="2319688" cy="221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4AB971-F2B8-7CA6-8C20-552DC7D248C2}"/>
              </a:ext>
            </a:extLst>
          </p:cNvPr>
          <p:cNvCxnSpPr>
            <a:cxnSpLocks/>
          </p:cNvCxnSpPr>
          <p:nvPr/>
        </p:nvCxnSpPr>
        <p:spPr>
          <a:xfrm>
            <a:off x="4889634" y="5842535"/>
            <a:ext cx="2791326" cy="74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0487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2715085F-7AE2-04C2-C637-D49F7A32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04" y="3076639"/>
            <a:ext cx="5637196" cy="385067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17" y="1362977"/>
            <a:ext cx="5848732" cy="5455888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can see that we will need to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“min” and “minute”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“hrs” and “hour” from entries.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Remove “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apx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.” from entries.</a:t>
            </a:r>
          </a:p>
          <a:p>
            <a:pPr lvl="1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Post lecture addition: convert from hours to minutes. 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Change any entry involving “campus” to 0.</a:t>
            </a:r>
          </a:p>
          <a:p>
            <a:pPr lvl="1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Convert all the entries to floats.</a:t>
            </a:r>
          </a:p>
          <a:p>
            <a:r>
              <a:rPr lang="en-GB" dirty="0"/>
              <a:t>You can </a:t>
            </a:r>
            <a:r>
              <a:rPr lang="en-GB" i="1" dirty="0"/>
              <a:t>return </a:t>
            </a:r>
            <a:r>
              <a:rPr lang="en-GB" dirty="0"/>
              <a:t>in a </a:t>
            </a:r>
            <a:r>
              <a:rPr lang="en-GB" i="1" dirty="0"/>
              <a:t>function </a:t>
            </a:r>
            <a:r>
              <a:rPr lang="en-GB" dirty="0"/>
              <a:t>whenever you have reached a final state.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D55714C-0982-9DA7-F2B4-E1872B6D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1362977"/>
            <a:ext cx="6718300" cy="18415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375E411-304C-742B-66A2-C2A1CB50C009}"/>
              </a:ext>
            </a:extLst>
          </p:cNvPr>
          <p:cNvGrpSpPr/>
          <p:nvPr/>
        </p:nvGrpSpPr>
        <p:grpSpPr>
          <a:xfrm>
            <a:off x="6375334" y="6168913"/>
            <a:ext cx="1719513" cy="369332"/>
            <a:chOff x="1421332" y="4515838"/>
            <a:chExt cx="1652457" cy="39224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71CE51C-933E-9F5D-F0CD-777229538D6E}"/>
                </a:ext>
              </a:extLst>
            </p:cNvPr>
            <p:cNvSpPr/>
            <p:nvPr/>
          </p:nvSpPr>
          <p:spPr>
            <a:xfrm>
              <a:off x="2316482" y="4515838"/>
              <a:ext cx="757307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660E0D-FEE5-26CD-D5EA-6AE459C55DD7}"/>
                </a:ext>
              </a:extLst>
            </p:cNvPr>
            <p:cNvSpPr txBox="1"/>
            <p:nvPr/>
          </p:nvSpPr>
          <p:spPr>
            <a:xfrm>
              <a:off x="1421332" y="4515838"/>
              <a:ext cx="895149" cy="3922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T</a:t>
              </a:r>
              <a:r>
                <a:rPr lang="en-GB" dirty="0">
                  <a:solidFill>
                    <a:schemeClr val="bg1"/>
                  </a:solidFill>
                </a:rPr>
                <a:t>OP TIP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2F80EDD-04BB-36A7-190B-9A4D7CEE640F}"/>
              </a:ext>
            </a:extLst>
          </p:cNvPr>
          <p:cNvGrpSpPr/>
          <p:nvPr/>
        </p:nvGrpSpPr>
        <p:grpSpPr>
          <a:xfrm>
            <a:off x="6375334" y="5498055"/>
            <a:ext cx="5479781" cy="369332"/>
            <a:chOff x="1421332" y="4515838"/>
            <a:chExt cx="5266084" cy="3922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056208-6AF9-A9A8-665A-5788854FB979}"/>
                </a:ext>
              </a:extLst>
            </p:cNvPr>
            <p:cNvSpPr/>
            <p:nvPr/>
          </p:nvSpPr>
          <p:spPr>
            <a:xfrm>
              <a:off x="2316481" y="4515838"/>
              <a:ext cx="4370935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BB35F4-F80E-3F83-5678-DA672BD8E455}"/>
                </a:ext>
              </a:extLst>
            </p:cNvPr>
            <p:cNvSpPr txBox="1"/>
            <p:nvPr/>
          </p:nvSpPr>
          <p:spPr>
            <a:xfrm>
              <a:off x="1421332" y="4515838"/>
              <a:ext cx="895149" cy="3922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T</a:t>
              </a:r>
              <a:r>
                <a:rPr lang="en-GB" dirty="0">
                  <a:solidFill>
                    <a:schemeClr val="bg1"/>
                  </a:solidFill>
                </a:rPr>
                <a:t>OP TIP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31A73E-F62A-2C88-6E84-C3AA5E287191}"/>
              </a:ext>
            </a:extLst>
          </p:cNvPr>
          <p:cNvGrpSpPr/>
          <p:nvPr/>
        </p:nvGrpSpPr>
        <p:grpSpPr>
          <a:xfrm>
            <a:off x="6712219" y="4455252"/>
            <a:ext cx="5479781" cy="347754"/>
            <a:chOff x="1421332" y="4515838"/>
            <a:chExt cx="5266084" cy="3693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74F8CB-95A5-1FDA-3697-140AC03FF38F}"/>
                </a:ext>
              </a:extLst>
            </p:cNvPr>
            <p:cNvSpPr/>
            <p:nvPr/>
          </p:nvSpPr>
          <p:spPr>
            <a:xfrm>
              <a:off x="2316481" y="4515838"/>
              <a:ext cx="4370935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7AE31FC-9E0F-D331-E1DF-113FD6259560}"/>
                </a:ext>
              </a:extLst>
            </p:cNvPr>
            <p:cNvSpPr txBox="1"/>
            <p:nvPr/>
          </p:nvSpPr>
          <p:spPr>
            <a:xfrm>
              <a:off x="1421332" y="4515838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35654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F23A675-9570-320B-A261-926B4629B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797" y="1297292"/>
            <a:ext cx="8215996" cy="450674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52" y="1430988"/>
            <a:ext cx="3891844" cy="4863933"/>
          </a:xfrm>
        </p:spPr>
        <p:txBody>
          <a:bodyPr/>
          <a:lstStyle/>
          <a:p>
            <a:r>
              <a:rPr lang="en-GB" dirty="0"/>
              <a:t>This checks if a substring is contained </a:t>
            </a:r>
            <a:r>
              <a:rPr lang="en-GB" i="1" dirty="0"/>
              <a:t>in </a:t>
            </a:r>
            <a:r>
              <a:rPr lang="en-GB" dirty="0"/>
              <a:t>the other string.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26A916-F9DD-7E07-6C56-F3F764A50DBB}"/>
              </a:ext>
            </a:extLst>
          </p:cNvPr>
          <p:cNvGrpSpPr/>
          <p:nvPr/>
        </p:nvGrpSpPr>
        <p:grpSpPr>
          <a:xfrm>
            <a:off x="4786966" y="1720598"/>
            <a:ext cx="2146431" cy="369332"/>
            <a:chOff x="2316482" y="4342583"/>
            <a:chExt cx="2146431" cy="3693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EDF4D1-A1F2-7F92-1884-791CADDEFECE}"/>
                </a:ext>
              </a:extLst>
            </p:cNvPr>
            <p:cNvSpPr/>
            <p:nvPr/>
          </p:nvSpPr>
          <p:spPr>
            <a:xfrm>
              <a:off x="2316482" y="4515839"/>
              <a:ext cx="1251282" cy="1827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0A00DF-F3CA-2DA7-2264-9C3A588F45B0}"/>
                </a:ext>
              </a:extLst>
            </p:cNvPr>
            <p:cNvSpPr txBox="1"/>
            <p:nvPr/>
          </p:nvSpPr>
          <p:spPr>
            <a:xfrm>
              <a:off x="3567764" y="4342583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4EA073-D540-27EB-CE2D-3D06F3D2087C}"/>
              </a:ext>
            </a:extLst>
          </p:cNvPr>
          <p:cNvCxnSpPr>
            <a:cxnSpLocks/>
          </p:cNvCxnSpPr>
          <p:nvPr/>
        </p:nvCxnSpPr>
        <p:spPr>
          <a:xfrm flipV="1">
            <a:off x="3185962" y="2076579"/>
            <a:ext cx="1463040" cy="137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7124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F23A675-9570-320B-A261-926B4629B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797" y="1297292"/>
            <a:ext cx="8215996" cy="450674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52" y="1430988"/>
            <a:ext cx="3891844" cy="4863933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checks if a substring is contained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 other string.</a:t>
            </a:r>
          </a:p>
          <a:p>
            <a:r>
              <a:rPr lang="en-GB" dirty="0"/>
              <a:t>This </a:t>
            </a:r>
            <a:r>
              <a:rPr lang="en-GB" i="1" dirty="0"/>
              <a:t>find</a:t>
            </a:r>
            <a:r>
              <a:rPr lang="en-GB" dirty="0"/>
              <a:t>s the index where the substring starts.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34DF3FB-82E6-BA7A-5896-2929BB5E4789}"/>
              </a:ext>
            </a:extLst>
          </p:cNvPr>
          <p:cNvCxnSpPr>
            <a:cxnSpLocks/>
          </p:cNvCxnSpPr>
          <p:nvPr/>
        </p:nvCxnSpPr>
        <p:spPr>
          <a:xfrm flipV="1">
            <a:off x="3628724" y="3178595"/>
            <a:ext cx="1020278" cy="554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6013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F23A675-9570-320B-A261-926B4629B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797" y="1297292"/>
            <a:ext cx="8215996" cy="450674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52" y="1430988"/>
            <a:ext cx="3891844" cy="4863933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checks if a substring is contained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 other string.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find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 the index where the substring starts.</a:t>
            </a:r>
          </a:p>
          <a:p>
            <a:r>
              <a:rPr lang="en-GB" dirty="0"/>
              <a:t>The </a:t>
            </a:r>
            <a:r>
              <a:rPr lang="en-GB" i="1" dirty="0"/>
              <a:t>\ </a:t>
            </a:r>
            <a:r>
              <a:rPr lang="en-GB" dirty="0"/>
              <a:t>operator allows you to span a list over several lines.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4BC2E8-B464-42EE-EDF1-449D0491E2EB}"/>
              </a:ext>
            </a:extLst>
          </p:cNvPr>
          <p:cNvGrpSpPr/>
          <p:nvPr/>
        </p:nvGrpSpPr>
        <p:grpSpPr>
          <a:xfrm>
            <a:off x="4140097" y="4358999"/>
            <a:ext cx="5850926" cy="774398"/>
            <a:chOff x="2316481" y="4515838"/>
            <a:chExt cx="5622755" cy="3693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82A691-1E9D-200F-892A-2C98876B5379}"/>
                </a:ext>
              </a:extLst>
            </p:cNvPr>
            <p:cNvSpPr/>
            <p:nvPr/>
          </p:nvSpPr>
          <p:spPr>
            <a:xfrm>
              <a:off x="2316481" y="4515838"/>
              <a:ext cx="4727606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7F99EC-7878-6FDC-84E8-6D37891E83CD}"/>
                </a:ext>
              </a:extLst>
            </p:cNvPr>
            <p:cNvSpPr txBox="1"/>
            <p:nvPr/>
          </p:nvSpPr>
          <p:spPr>
            <a:xfrm>
              <a:off x="7044087" y="4515838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B9BF3D-46C1-D983-5EA8-87B97FD9F992}"/>
              </a:ext>
            </a:extLst>
          </p:cNvPr>
          <p:cNvCxnSpPr>
            <a:cxnSpLocks/>
          </p:cNvCxnSpPr>
          <p:nvPr/>
        </p:nvCxnSpPr>
        <p:spPr>
          <a:xfrm flipV="1">
            <a:off x="3060834" y="4644037"/>
            <a:ext cx="1232033" cy="2840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5095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F23A675-9570-320B-A261-926B4629B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797" y="1297292"/>
            <a:ext cx="8215996" cy="450674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52" y="1430988"/>
            <a:ext cx="3891844" cy="4863933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checks if a substring is contained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 other string.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This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find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 the index where the substring starts.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\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operator allows you to span a list over several lines.</a:t>
            </a:r>
          </a:p>
          <a:p>
            <a:r>
              <a:rPr lang="en-GB" dirty="0"/>
              <a:t>It is good practice to test functions to make sure they act as you expect.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4BC2E8-B464-42EE-EDF1-449D0491E2EB}"/>
              </a:ext>
            </a:extLst>
          </p:cNvPr>
          <p:cNvGrpSpPr/>
          <p:nvPr/>
        </p:nvGrpSpPr>
        <p:grpSpPr>
          <a:xfrm>
            <a:off x="4140097" y="4358999"/>
            <a:ext cx="5850926" cy="774398"/>
            <a:chOff x="2316481" y="4515838"/>
            <a:chExt cx="5622755" cy="3693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82A691-1E9D-200F-892A-2C98876B5379}"/>
                </a:ext>
              </a:extLst>
            </p:cNvPr>
            <p:cNvSpPr/>
            <p:nvPr/>
          </p:nvSpPr>
          <p:spPr>
            <a:xfrm>
              <a:off x="2316481" y="4515838"/>
              <a:ext cx="4727606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7F99EC-7878-6FDC-84E8-6D37891E83CD}"/>
                </a:ext>
              </a:extLst>
            </p:cNvPr>
            <p:cNvSpPr txBox="1"/>
            <p:nvPr/>
          </p:nvSpPr>
          <p:spPr>
            <a:xfrm>
              <a:off x="7044087" y="4515838"/>
              <a:ext cx="895149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1F332D-70D4-78D7-8734-BB94438D20BA}"/>
              </a:ext>
            </a:extLst>
          </p:cNvPr>
          <p:cNvCxnSpPr>
            <a:cxnSpLocks/>
          </p:cNvCxnSpPr>
          <p:nvPr/>
        </p:nvCxnSpPr>
        <p:spPr>
          <a:xfrm flipV="1">
            <a:off x="3628724" y="5711110"/>
            <a:ext cx="664143" cy="4903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862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3359217"/>
            <a:ext cx="4715577" cy="3339965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57F8920-25CA-923A-B261-3636E101D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259" y="1362976"/>
            <a:ext cx="7292741" cy="199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984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EC3CEA9-F964-2A90-0C89-897FE8335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453" y="4777646"/>
            <a:ext cx="9352547" cy="208035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581AE-D612-AEF5-C321-1CBD5126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3359217"/>
            <a:ext cx="4715577" cy="3339965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commute_mins</a:t>
            </a:r>
            <a:r>
              <a:rPr lang="en-GB" dirty="0"/>
              <a:t>?</a:t>
            </a:r>
          </a:p>
          <a:p>
            <a:r>
              <a:rPr lang="en-GB" dirty="0"/>
              <a:t>We can now </a:t>
            </a:r>
            <a:r>
              <a:rPr lang="en-GB" i="1" dirty="0"/>
              <a:t>apply </a:t>
            </a:r>
            <a:r>
              <a:rPr lang="en-GB" dirty="0"/>
              <a:t>our </a:t>
            </a:r>
            <a:r>
              <a:rPr lang="en-GB" i="1" dirty="0"/>
              <a:t>function</a:t>
            </a:r>
            <a:r>
              <a:rPr lang="en-GB" dirty="0"/>
              <a:t> to the series.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FC1EA5-2A4E-FF57-2409-D09A747F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E1D0C7-7C70-917F-AA3D-D046B8D08917}"/>
              </a:ext>
            </a:extLst>
          </p:cNvPr>
          <p:cNvCxnSpPr>
            <a:cxnSpLocks/>
          </p:cNvCxnSpPr>
          <p:nvPr/>
        </p:nvCxnSpPr>
        <p:spPr>
          <a:xfrm>
            <a:off x="3946358" y="4273617"/>
            <a:ext cx="5406189" cy="6833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57F8920-25CA-923A-B261-3636E101D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259" y="1362976"/>
            <a:ext cx="7292741" cy="199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176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4F3BC6-C074-4513-8A5A-DBDCBBDD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10" y="1513213"/>
            <a:ext cx="5257800" cy="4979661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height_cm</a:t>
            </a:r>
            <a:r>
              <a:rPr lang="en-GB" dirty="0"/>
              <a:t>?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920E48-BDC1-E36D-0DC3-B7313994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  <a:endParaRPr lang="en-GB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1F8D5-E3E9-905C-C0BC-DAEF8081B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318653"/>
            <a:ext cx="69723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2747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4F3BC6-C074-4513-8A5A-DBDCBBDD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10" y="1513213"/>
            <a:ext cx="5257800" cy="4979661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height_cm</a:t>
            </a:r>
            <a:r>
              <a:rPr lang="en-GB" dirty="0"/>
              <a:t>?</a:t>
            </a:r>
          </a:p>
          <a:p>
            <a:r>
              <a:rPr lang="en-GB" dirty="0"/>
              <a:t>We have a similar set of issues:</a:t>
            </a:r>
          </a:p>
          <a:p>
            <a:pPr lvl="1"/>
            <a:r>
              <a:rPr lang="en-GB" dirty="0"/>
              <a:t>Change “,” into “.”</a:t>
            </a:r>
          </a:p>
          <a:p>
            <a:pPr lvl="1"/>
            <a:r>
              <a:rPr lang="en-GB" dirty="0"/>
              <a:t>Convert from metres to </a:t>
            </a:r>
            <a:r>
              <a:rPr lang="en-GB" dirty="0" err="1"/>
              <a:t>cms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Remove “cm” from entry.</a:t>
            </a:r>
          </a:p>
          <a:p>
            <a:pPr lvl="1"/>
            <a:r>
              <a:rPr lang="en-GB" dirty="0"/>
              <a:t>Change from imperial notation to metric.</a:t>
            </a:r>
          </a:p>
          <a:p>
            <a:pPr lvl="1"/>
            <a:r>
              <a:rPr lang="en-GB" dirty="0"/>
              <a:t>Convert all the entries to floats.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920E48-BDC1-E36D-0DC3-B7313994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  <a:endParaRPr lang="en-GB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01F8D5-E3E9-905C-C0BC-DAEF8081B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318653"/>
            <a:ext cx="69723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0749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4F3BC6-C074-4513-8A5A-DBDCBBDD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10" y="1513213"/>
            <a:ext cx="5257800" cy="4979661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height_cm</a:t>
            </a:r>
            <a:r>
              <a:rPr lang="en-GB" dirty="0"/>
              <a:t>?</a:t>
            </a:r>
          </a:p>
          <a:p>
            <a:r>
              <a:rPr lang="en-GB" dirty="0"/>
              <a:t>We have a similar set of issues:</a:t>
            </a:r>
          </a:p>
          <a:p>
            <a:pPr lvl="1"/>
            <a:r>
              <a:rPr lang="en-GB" dirty="0"/>
              <a:t>Change “,” into “.”</a:t>
            </a:r>
          </a:p>
          <a:p>
            <a:pPr lvl="1"/>
            <a:r>
              <a:rPr lang="en-GB" dirty="0"/>
              <a:t>Convert from metres to </a:t>
            </a:r>
            <a:r>
              <a:rPr lang="en-GB" dirty="0" err="1"/>
              <a:t>cms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Remove “cm” from entry.</a:t>
            </a:r>
          </a:p>
          <a:p>
            <a:pPr lvl="1"/>
            <a:r>
              <a:rPr lang="en-GB" dirty="0"/>
              <a:t>Change from imperial notation to metric.</a:t>
            </a:r>
          </a:p>
          <a:p>
            <a:pPr lvl="1"/>
            <a:r>
              <a:rPr lang="en-GB" dirty="0"/>
              <a:t>Convert all the entries to floats.</a:t>
            </a:r>
          </a:p>
          <a:p>
            <a:r>
              <a:rPr lang="en-GB" dirty="0"/>
              <a:t>We need to write a new </a:t>
            </a:r>
            <a:r>
              <a:rPr lang="en-GB" i="1" dirty="0"/>
              <a:t>function</a:t>
            </a:r>
            <a:r>
              <a:rPr lang="en-GB" dirty="0"/>
              <a:t>, but how might we adapt the </a:t>
            </a:r>
            <a:r>
              <a:rPr lang="en-GB" i="1" dirty="0"/>
              <a:t>function </a:t>
            </a:r>
            <a:r>
              <a:rPr lang="en-GB" i="1" dirty="0" err="1"/>
              <a:t>update_commute_times</a:t>
            </a:r>
            <a:r>
              <a:rPr lang="en-GB" dirty="0"/>
              <a:t>? 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920E48-BDC1-E36D-0DC3-B7313994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  <a:endParaRPr lang="en-GB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58B54A-23F3-3CB2-B900-6644E7047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922" y="2899119"/>
            <a:ext cx="5897077" cy="40281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01F8D5-E3E9-905C-C0BC-DAEF8081B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1318653"/>
            <a:ext cx="69723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623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4F3BC6-C074-4513-8A5A-DBDCBBDD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10" y="1513213"/>
            <a:ext cx="5257800" cy="4979661"/>
          </a:xfrm>
        </p:spPr>
        <p:txBody>
          <a:bodyPr/>
          <a:lstStyle/>
          <a:p>
            <a:r>
              <a:rPr lang="en-GB" dirty="0"/>
              <a:t>What about </a:t>
            </a:r>
            <a:r>
              <a:rPr lang="en-GB" i="1" dirty="0" err="1"/>
              <a:t>height_cm</a:t>
            </a:r>
            <a:r>
              <a:rPr lang="en-GB" dirty="0"/>
              <a:t>?</a:t>
            </a:r>
          </a:p>
          <a:p>
            <a:r>
              <a:rPr lang="en-GB" dirty="0"/>
              <a:t>We have a similar set of issues:</a:t>
            </a:r>
          </a:p>
          <a:p>
            <a:pPr lvl="1"/>
            <a:r>
              <a:rPr lang="en-GB" dirty="0"/>
              <a:t>Change “,” into “.”</a:t>
            </a:r>
          </a:p>
          <a:p>
            <a:pPr lvl="1"/>
            <a:r>
              <a:rPr lang="en-GB" dirty="0"/>
              <a:t>Convert from metres to </a:t>
            </a:r>
            <a:r>
              <a:rPr lang="en-GB" dirty="0" err="1"/>
              <a:t>cms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Remove “cm” from entry.</a:t>
            </a:r>
          </a:p>
          <a:p>
            <a:pPr lvl="1"/>
            <a:r>
              <a:rPr lang="en-GB" dirty="0"/>
              <a:t>Change from imperial notation to metric.</a:t>
            </a:r>
          </a:p>
          <a:p>
            <a:pPr lvl="1"/>
            <a:r>
              <a:rPr lang="en-GB" dirty="0"/>
              <a:t>Convert all the entries to floats.</a:t>
            </a:r>
          </a:p>
          <a:p>
            <a:r>
              <a:rPr lang="en-GB" i="1" dirty="0"/>
              <a:t>replace</a:t>
            </a:r>
            <a:r>
              <a:rPr lang="en-GB" dirty="0"/>
              <a:t> and </a:t>
            </a:r>
            <a:r>
              <a:rPr lang="en-GB" i="1" dirty="0"/>
              <a:t>split </a:t>
            </a:r>
            <a:r>
              <a:rPr lang="en-GB" dirty="0"/>
              <a:t>do exactly as intended, but they overwrite the variable </a:t>
            </a:r>
            <a:r>
              <a:rPr lang="en-GB" i="1" dirty="0" err="1"/>
              <a:t>val</a:t>
            </a:r>
            <a:r>
              <a:rPr lang="en-GB" i="1" dirty="0"/>
              <a:t> </a:t>
            </a:r>
            <a:r>
              <a:rPr lang="en-GB" dirty="0"/>
              <a:t>without need for assignment.</a:t>
            </a:r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920E48-BDC1-E36D-0DC3-B7313994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Cleaning with </a:t>
            </a:r>
            <a:r>
              <a:rPr lang="en-GB" i="1" dirty="0"/>
              <a:t>pandas</a:t>
            </a:r>
            <a:r>
              <a:rPr lang="en-GB" dirty="0"/>
              <a:t>: custom </a:t>
            </a:r>
            <a:r>
              <a:rPr lang="en-GB" i="1" dirty="0"/>
              <a:t>function</a:t>
            </a:r>
            <a:r>
              <a:rPr lang="en-GB" dirty="0"/>
              <a:t>s</a:t>
            </a:r>
            <a:endParaRPr lang="en-GB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097CDD-909A-A32C-5CA7-49DFFB2B5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4646"/>
            <a:ext cx="6096000" cy="54933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1233B60-BDE8-0D0D-6C61-12E6E0A82B18}"/>
              </a:ext>
            </a:extLst>
          </p:cNvPr>
          <p:cNvGrpSpPr/>
          <p:nvPr/>
        </p:nvGrpSpPr>
        <p:grpSpPr>
          <a:xfrm>
            <a:off x="6805060" y="4991932"/>
            <a:ext cx="5386939" cy="651597"/>
            <a:chOff x="2583541" y="4574405"/>
            <a:chExt cx="5176862" cy="310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A7AC03-8982-3CF0-7DB8-5996D76A4089}"/>
                </a:ext>
              </a:extLst>
            </p:cNvPr>
            <p:cNvSpPr/>
            <p:nvPr/>
          </p:nvSpPr>
          <p:spPr>
            <a:xfrm>
              <a:off x="2583541" y="4750550"/>
              <a:ext cx="5176862" cy="1346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FC8780-87AA-55CC-52ED-27F1FEA25E8C}"/>
                </a:ext>
              </a:extLst>
            </p:cNvPr>
            <p:cNvSpPr txBox="1"/>
            <p:nvPr/>
          </p:nvSpPr>
          <p:spPr>
            <a:xfrm>
              <a:off x="6856997" y="4574405"/>
              <a:ext cx="903406" cy="17614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TOP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971863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F93F0A5-2EF4-6F30-8646-6BB017C63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300" y="1321594"/>
            <a:ext cx="5473700" cy="43561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3C1840-880C-4ACD-50A1-8395C56D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info </a:t>
            </a:r>
            <a:r>
              <a:rPr lang="en-GB" dirty="0"/>
              <a:t>and </a:t>
            </a:r>
            <a:r>
              <a:rPr lang="en-GB" i="1" dirty="0"/>
              <a:t>describe</a:t>
            </a:r>
            <a:endParaRPr lang="en-GB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3F59DF9F-F249-FB85-3549-D63A45E3C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10" y="5677694"/>
            <a:ext cx="6361496" cy="1180306"/>
          </a:xfrm>
        </p:spPr>
        <p:txBody>
          <a:bodyPr/>
          <a:lstStyle/>
          <a:p>
            <a:r>
              <a:rPr lang="en-GB" dirty="0"/>
              <a:t>We can see that </a:t>
            </a:r>
            <a:r>
              <a:rPr lang="en-GB" i="1" dirty="0"/>
              <a:t>describe</a:t>
            </a:r>
            <a:r>
              <a:rPr lang="en-GB" dirty="0"/>
              <a:t> now gives us some statistical properties of certain </a:t>
            </a:r>
            <a:r>
              <a:rPr lang="en-GB" i="1" dirty="0"/>
              <a:t>series </a:t>
            </a:r>
            <a:r>
              <a:rPr lang="en-GB" dirty="0"/>
              <a:t>in the </a:t>
            </a:r>
            <a:r>
              <a:rPr lang="en-GB" i="1" dirty="0" err="1"/>
              <a:t>dataframe</a:t>
            </a:r>
            <a:r>
              <a:rPr lang="en-GB" i="1" dirty="0"/>
              <a:t>! 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732806-3066-F292-734F-A251E1594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0644"/>
            <a:ext cx="61976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400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F93F0A5-2EF4-6F30-8646-6BB017C63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300" y="1321594"/>
            <a:ext cx="5473700" cy="43561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3C1840-880C-4ACD-50A1-8395C56D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data into </a:t>
            </a:r>
            <a:r>
              <a:rPr lang="en-GB" i="1" dirty="0"/>
              <a:t>pandas</a:t>
            </a:r>
            <a:r>
              <a:rPr lang="en-GB" dirty="0"/>
              <a:t>: </a:t>
            </a:r>
            <a:r>
              <a:rPr lang="en-GB" i="1" dirty="0"/>
              <a:t>info </a:t>
            </a:r>
            <a:r>
              <a:rPr lang="en-GB" dirty="0"/>
              <a:t>and </a:t>
            </a:r>
            <a:r>
              <a:rPr lang="en-GB" i="1" dirty="0"/>
              <a:t>describe</a:t>
            </a:r>
            <a:endParaRPr lang="en-GB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3F59DF9F-F249-FB85-3549-D63A45E3C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10" y="5677694"/>
            <a:ext cx="6361496" cy="1180306"/>
          </a:xfrm>
        </p:spPr>
        <p:txBody>
          <a:bodyPr/>
          <a:lstStyle/>
          <a:p>
            <a:r>
              <a:rPr lang="en-GB" dirty="0"/>
              <a:t>We can see that </a:t>
            </a:r>
            <a:r>
              <a:rPr lang="en-GB" i="1" dirty="0"/>
              <a:t>describe</a:t>
            </a:r>
            <a:r>
              <a:rPr lang="en-GB" dirty="0"/>
              <a:t> now gives us some statistical properties of certain </a:t>
            </a:r>
            <a:r>
              <a:rPr lang="en-GB" i="1" dirty="0"/>
              <a:t>series </a:t>
            </a:r>
            <a:r>
              <a:rPr lang="en-GB" dirty="0"/>
              <a:t>in the </a:t>
            </a:r>
            <a:r>
              <a:rPr lang="en-GB" i="1" dirty="0" err="1"/>
              <a:t>dataframe</a:t>
            </a:r>
            <a:r>
              <a:rPr lang="en-GB" i="1" dirty="0"/>
              <a:t>! 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DB02AD8E-2E9F-CEAF-8A80-F85313C03C6E}"/>
              </a:ext>
            </a:extLst>
          </p:cNvPr>
          <p:cNvSpPr txBox="1">
            <a:spLocks/>
          </p:cNvSpPr>
          <p:nvPr/>
        </p:nvSpPr>
        <p:spPr>
          <a:xfrm>
            <a:off x="7209322" y="5832066"/>
            <a:ext cx="4868779" cy="5598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Notice the </a:t>
            </a:r>
            <a:r>
              <a:rPr lang="en-GB" i="1" dirty="0" err="1"/>
              <a:t>dtypes</a:t>
            </a:r>
            <a:r>
              <a:rPr lang="en-GB" i="1" dirty="0"/>
              <a:t>.</a:t>
            </a:r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4CCFD8-5929-728B-154A-48C5BB88F3F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9643712" y="5370897"/>
            <a:ext cx="308810" cy="4611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9732806-3066-F292-734F-A251E1594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0644"/>
            <a:ext cx="61976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662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476"/>
            <a:ext cx="5257800" cy="2613853"/>
          </a:xfrm>
        </p:spPr>
        <p:txBody>
          <a:bodyPr/>
          <a:lstStyle/>
          <a:p>
            <a:r>
              <a:rPr lang="en-GB" dirty="0"/>
              <a:t>We have been told by the data collector that they have found the individuals with </a:t>
            </a:r>
            <a:r>
              <a:rPr lang="en-GB" i="1" dirty="0" err="1"/>
              <a:t>NaN</a:t>
            </a:r>
            <a:r>
              <a:rPr lang="en-GB" i="1" dirty="0"/>
              <a:t> </a:t>
            </a:r>
            <a:r>
              <a:rPr lang="en-GB" dirty="0"/>
              <a:t>entries.</a:t>
            </a:r>
          </a:p>
          <a:p>
            <a:r>
              <a:rPr lang="en-GB" dirty="0"/>
              <a:t>We have a new csv file with their entries that we can add.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6096000" y="1547475"/>
            <a:ext cx="5257800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672547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476"/>
            <a:ext cx="5257800" cy="2613853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been told by the data collector that they have found the individuals with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entries.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a new csv file with their entries that we can add.</a:t>
            </a:r>
          </a:p>
          <a:p>
            <a:r>
              <a:rPr lang="en-GB" dirty="0"/>
              <a:t>Make sure </a:t>
            </a:r>
            <a:r>
              <a:rPr lang="en-GB" i="1" dirty="0" err="1"/>
              <a:t>dirty_data_to_add.csv</a:t>
            </a:r>
            <a:r>
              <a:rPr lang="en-GB" i="1" dirty="0"/>
              <a:t> </a:t>
            </a:r>
            <a:r>
              <a:rPr lang="en-GB" dirty="0"/>
              <a:t>is in your folder.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D1BD7-3862-D90B-290F-929F11AC5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90385"/>
            <a:ext cx="12192000" cy="2328921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6096000" y="1547475"/>
            <a:ext cx="5257800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will </a:t>
            </a:r>
            <a:r>
              <a:rPr lang="en-GB" i="1" dirty="0"/>
              <a:t>concat</a:t>
            </a:r>
            <a:r>
              <a:rPr lang="en-GB" dirty="0"/>
              <a:t>enate the two </a:t>
            </a:r>
            <a:r>
              <a:rPr lang="en-GB" i="1" dirty="0" err="1"/>
              <a:t>dataframes</a:t>
            </a:r>
            <a:r>
              <a:rPr lang="en-GB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36386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476"/>
            <a:ext cx="5257800" cy="2613853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been told by the data collector that they have found the individuals with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entries.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have a new csv file with their entries that we can add.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Make sure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dirty_data_to_add.csv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is in your folder.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D1BD7-3862-D90B-290F-929F11AC5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0385"/>
            <a:ext cx="12192000" cy="2328921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6096000" y="1547475"/>
            <a:ext cx="5257800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will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concat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enate the two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/>
              <a:t>In order to do this we need to make sure we have the same columns.</a:t>
            </a:r>
          </a:p>
        </p:txBody>
      </p:sp>
    </p:spTree>
    <p:extLst>
      <p:ext uri="{BB962C8B-B14F-4D97-AF65-F5344CB8AC3E}">
        <p14:creationId xmlns:p14="http://schemas.microsoft.com/office/powerpoint/2010/main" val="397627702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C7BC4A-355B-4343-D252-4865BBB6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0" y="1362283"/>
            <a:ext cx="8229600" cy="55081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119270" y="1526072"/>
            <a:ext cx="3657600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use </a:t>
            </a:r>
            <a:r>
              <a:rPr lang="en-GB" i="1" dirty="0" err="1"/>
              <a:t>concat</a:t>
            </a:r>
            <a:r>
              <a:rPr lang="en-GB" dirty="0"/>
              <a:t> to combine the two </a:t>
            </a:r>
            <a:r>
              <a:rPr lang="en-GB" i="1" dirty="0" err="1"/>
              <a:t>dataframes</a:t>
            </a:r>
            <a:r>
              <a:rPr lang="en-GB" i="1" dirty="0"/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9AEC1A-6ED6-7B7C-5A45-39084A29FD2E}"/>
              </a:ext>
            </a:extLst>
          </p:cNvPr>
          <p:cNvCxnSpPr/>
          <p:nvPr/>
        </p:nvCxnSpPr>
        <p:spPr>
          <a:xfrm>
            <a:off x="3041583" y="2059806"/>
            <a:ext cx="2454442" cy="7315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4909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C7BC4A-355B-4343-D252-4865BBB6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0" y="1362283"/>
            <a:ext cx="8229600" cy="55081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119270" y="1526072"/>
            <a:ext cx="3657600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concat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combine the two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1"/>
                </a:solidFill>
              </a:rPr>
              <a:t>Notice that the columns </a:t>
            </a:r>
            <a:r>
              <a:rPr lang="en-GB" i="1" dirty="0">
                <a:solidFill>
                  <a:schemeClr val="bg1"/>
                </a:solidFill>
              </a:rPr>
              <a:t>date </a:t>
            </a:r>
            <a:r>
              <a:rPr lang="en-GB" dirty="0">
                <a:solidFill>
                  <a:schemeClr val="bg1"/>
                </a:solidFill>
              </a:rPr>
              <a:t>and</a:t>
            </a:r>
            <a:r>
              <a:rPr lang="en-GB" i="1" dirty="0">
                <a:solidFill>
                  <a:schemeClr val="bg1"/>
                </a:solidFill>
              </a:rPr>
              <a:t> time </a:t>
            </a:r>
            <a:r>
              <a:rPr lang="en-GB" dirty="0">
                <a:solidFill>
                  <a:schemeClr val="bg1"/>
                </a:solidFill>
              </a:rPr>
              <a:t>are </a:t>
            </a:r>
            <a:r>
              <a:rPr lang="en-GB" i="1" dirty="0" err="1">
                <a:solidFill>
                  <a:schemeClr val="bg1"/>
                </a:solidFill>
              </a:rPr>
              <a:t>NaN</a:t>
            </a:r>
            <a:r>
              <a:rPr lang="en-GB" i="1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– why?</a:t>
            </a:r>
          </a:p>
          <a:p>
            <a:r>
              <a:rPr lang="en-GB" dirty="0"/>
              <a:t>We can confirm the </a:t>
            </a:r>
            <a:r>
              <a:rPr lang="en-GB" i="1" dirty="0" err="1"/>
              <a:t>concat</a:t>
            </a:r>
            <a:r>
              <a:rPr lang="en-GB" i="1" dirty="0"/>
              <a:t> </a:t>
            </a:r>
            <a:r>
              <a:rPr lang="en-GB" dirty="0"/>
              <a:t>has worked as the lengths add up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415119-8D6C-7F6D-61A6-AF941E2A8053}"/>
              </a:ext>
            </a:extLst>
          </p:cNvPr>
          <p:cNvCxnSpPr/>
          <p:nvPr/>
        </p:nvCxnSpPr>
        <p:spPr>
          <a:xfrm flipV="1">
            <a:off x="2610678" y="4240696"/>
            <a:ext cx="1563757" cy="3445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1965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C7BC4A-355B-4343-D252-4865BBB6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0" y="1362283"/>
            <a:ext cx="8229600" cy="55081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119270" y="1526072"/>
            <a:ext cx="3657600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concat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combine the two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1"/>
                </a:solidFill>
              </a:rPr>
              <a:t>Notice that the columns </a:t>
            </a:r>
            <a:r>
              <a:rPr lang="en-GB" i="1" dirty="0">
                <a:solidFill>
                  <a:schemeClr val="bg1"/>
                </a:solidFill>
              </a:rPr>
              <a:t>date </a:t>
            </a:r>
            <a:r>
              <a:rPr lang="en-GB" dirty="0">
                <a:solidFill>
                  <a:schemeClr val="bg1"/>
                </a:solidFill>
              </a:rPr>
              <a:t>and</a:t>
            </a:r>
            <a:r>
              <a:rPr lang="en-GB" i="1" dirty="0">
                <a:solidFill>
                  <a:schemeClr val="bg1"/>
                </a:solidFill>
              </a:rPr>
              <a:t> time </a:t>
            </a:r>
            <a:r>
              <a:rPr lang="en-GB" dirty="0">
                <a:solidFill>
                  <a:schemeClr val="bg1"/>
                </a:solidFill>
              </a:rPr>
              <a:t>are </a:t>
            </a:r>
            <a:r>
              <a:rPr lang="en-GB" i="1" dirty="0" err="1">
                <a:solidFill>
                  <a:schemeClr val="bg1"/>
                </a:solidFill>
              </a:rPr>
              <a:t>NaN</a:t>
            </a:r>
            <a:r>
              <a:rPr lang="en-GB" i="1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– why?</a:t>
            </a:r>
          </a:p>
          <a:p>
            <a:r>
              <a:rPr lang="en-GB" dirty="0"/>
              <a:t>We can confirm the </a:t>
            </a:r>
            <a:r>
              <a:rPr lang="en-GB" i="1" dirty="0" err="1"/>
              <a:t>concat</a:t>
            </a:r>
            <a:r>
              <a:rPr lang="en-GB" i="1" dirty="0"/>
              <a:t> </a:t>
            </a:r>
            <a:r>
              <a:rPr lang="en-GB" dirty="0"/>
              <a:t>has worked as the lengths add up and we see the 5 entries from </a:t>
            </a:r>
            <a:r>
              <a:rPr lang="en-GB" dirty="0" err="1"/>
              <a:t>dirty_data_to_add.csv</a:t>
            </a:r>
            <a:r>
              <a:rPr lang="en-GB" dirty="0"/>
              <a:t> at the bottom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4D74D957-4586-40F3-51A2-55808B1FD5CC}"/>
              </a:ext>
            </a:extLst>
          </p:cNvPr>
          <p:cNvSpPr/>
          <p:nvPr/>
        </p:nvSpPr>
        <p:spPr>
          <a:xfrm>
            <a:off x="3644348" y="5632174"/>
            <a:ext cx="318052" cy="1113183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38015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C7BC4A-355B-4343-D252-4865BBB6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0" y="1362283"/>
            <a:ext cx="8229600" cy="55081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119270" y="1526072"/>
            <a:ext cx="3657600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use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concat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to combine the two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dataframes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/>
              <a:t>Notice that the columns </a:t>
            </a:r>
            <a:r>
              <a:rPr lang="en-GB" i="1" dirty="0"/>
              <a:t>date </a:t>
            </a:r>
            <a:r>
              <a:rPr lang="en-GB" dirty="0"/>
              <a:t>and</a:t>
            </a:r>
            <a:r>
              <a:rPr lang="en-GB" i="1" dirty="0"/>
              <a:t> time </a:t>
            </a:r>
            <a:r>
              <a:rPr lang="en-GB" dirty="0"/>
              <a:t>are </a:t>
            </a:r>
            <a:r>
              <a:rPr lang="en-GB" i="1" dirty="0" err="1"/>
              <a:t>NaN</a:t>
            </a:r>
            <a:r>
              <a:rPr lang="en-GB" i="1" dirty="0"/>
              <a:t> </a:t>
            </a:r>
            <a:r>
              <a:rPr lang="en-GB" dirty="0"/>
              <a:t>– why?</a:t>
            </a:r>
          </a:p>
          <a:p>
            <a:r>
              <a:rPr lang="en-GB" dirty="0"/>
              <a:t>We can confirm the </a:t>
            </a:r>
            <a:r>
              <a:rPr lang="en-GB" i="1" dirty="0" err="1"/>
              <a:t>concat</a:t>
            </a:r>
            <a:r>
              <a:rPr lang="en-GB" i="1" dirty="0"/>
              <a:t> </a:t>
            </a:r>
            <a:r>
              <a:rPr lang="en-GB" dirty="0"/>
              <a:t>has worked as the lengths add up and we see the 5 entries from </a:t>
            </a:r>
            <a:r>
              <a:rPr lang="en-GB" dirty="0" err="1"/>
              <a:t>dirty_data_to_add.csv</a:t>
            </a:r>
            <a:r>
              <a:rPr lang="en-GB" dirty="0"/>
              <a:t> at the bottom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F4B2E3-343F-40E4-36ED-8128E7D627C9}"/>
              </a:ext>
            </a:extLst>
          </p:cNvPr>
          <p:cNvCxnSpPr/>
          <p:nvPr/>
        </p:nvCxnSpPr>
        <p:spPr>
          <a:xfrm>
            <a:off x="2791326" y="3022333"/>
            <a:ext cx="6882063" cy="12320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2941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i="1" dirty="0"/>
              <a:t>, join</a:t>
            </a:r>
            <a:r>
              <a:rPr lang="en-GB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119270" y="1526072"/>
            <a:ext cx="4306956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What we just did was called an </a:t>
            </a:r>
            <a:r>
              <a:rPr lang="en-GB" i="1" dirty="0"/>
              <a:t>outer</a:t>
            </a:r>
            <a:r>
              <a:rPr lang="en-GB" dirty="0"/>
              <a:t> </a:t>
            </a:r>
            <a:r>
              <a:rPr lang="en-GB" i="1" dirty="0"/>
              <a:t>join, </a:t>
            </a:r>
            <a:r>
              <a:rPr lang="en-GB" dirty="0"/>
              <a:t>it is synonymous with the union – we keep all the available columns and fill in the missing values with </a:t>
            </a:r>
            <a:r>
              <a:rPr lang="en-GB" i="1" dirty="0" err="1"/>
              <a:t>NaN</a:t>
            </a:r>
            <a:r>
              <a:rPr lang="en-GB" i="1" dirty="0"/>
              <a:t>.</a:t>
            </a:r>
            <a:endParaRPr lang="en-GB" dirty="0"/>
          </a:p>
        </p:txBody>
      </p:sp>
      <p:pic>
        <p:nvPicPr>
          <p:cNvPr id="17" name="Picture 16" descr="Several circles with text&#10;&#10;Description automatically generated">
            <a:extLst>
              <a:ext uri="{FF2B5EF4-FFF2-40B4-BE49-F238E27FC236}">
                <a16:creationId xmlns:a16="http://schemas.microsoft.com/office/drawing/2014/main" id="{E676E547-E7CB-E207-800D-39942D05E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799" y="2334762"/>
            <a:ext cx="7392201" cy="41581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803C431-35F3-11AA-5B60-78E0B9C67533}"/>
              </a:ext>
            </a:extLst>
          </p:cNvPr>
          <p:cNvSpPr txBox="1"/>
          <p:nvPr/>
        </p:nvSpPr>
        <p:spPr>
          <a:xfrm>
            <a:off x="6889281" y="6308209"/>
            <a:ext cx="4843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https://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www.youtube.com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watch?v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=4JLkHtIxXlA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097CEE-8FD9-5B4A-784A-D7AE92B429C0}"/>
              </a:ext>
            </a:extLst>
          </p:cNvPr>
          <p:cNvCxnSpPr/>
          <p:nvPr/>
        </p:nvCxnSpPr>
        <p:spPr>
          <a:xfrm>
            <a:off x="3330341" y="2334762"/>
            <a:ext cx="5428648" cy="27473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61466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i="1" dirty="0"/>
              <a:t>, join</a:t>
            </a:r>
            <a:r>
              <a:rPr lang="en-GB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119270" y="1526072"/>
            <a:ext cx="4306956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What we just did was called an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outer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join,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it is synonymous with the union – we keep all the available columns and fill in the missing values with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en-GB" dirty="0"/>
              <a:t>Alternatively, we can do an </a:t>
            </a:r>
            <a:r>
              <a:rPr lang="en-GB" i="1" dirty="0"/>
              <a:t>inner join</a:t>
            </a:r>
            <a:r>
              <a:rPr lang="en-GB" dirty="0"/>
              <a:t>, which is synonymous with the intersection – we only keep what they both have it common.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7" name="Picture 16" descr="Several circles with text&#10;&#10;Description automatically generated">
            <a:extLst>
              <a:ext uri="{FF2B5EF4-FFF2-40B4-BE49-F238E27FC236}">
                <a16:creationId xmlns:a16="http://schemas.microsoft.com/office/drawing/2014/main" id="{E676E547-E7CB-E207-800D-39942D05E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799" y="2334762"/>
            <a:ext cx="7392201" cy="41581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803C431-35F3-11AA-5B60-78E0B9C67533}"/>
              </a:ext>
            </a:extLst>
          </p:cNvPr>
          <p:cNvSpPr txBox="1"/>
          <p:nvPr/>
        </p:nvSpPr>
        <p:spPr>
          <a:xfrm>
            <a:off x="6889281" y="6308209"/>
            <a:ext cx="4843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https://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www.youtube.com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watch?v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=4JLkHtIxXlA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F2B8A58-B293-6186-7CC7-33813A5A7400}"/>
              </a:ext>
            </a:extLst>
          </p:cNvPr>
          <p:cNvCxnSpPr/>
          <p:nvPr/>
        </p:nvCxnSpPr>
        <p:spPr>
          <a:xfrm>
            <a:off x="3407343" y="5024387"/>
            <a:ext cx="3481938" cy="4331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9581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concat</a:t>
            </a:r>
            <a:r>
              <a:rPr lang="en-GB" i="1" dirty="0"/>
              <a:t>, join</a:t>
            </a:r>
            <a:r>
              <a:rPr lang="en-GB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B0DCAD5-F52F-5E24-18E1-9DBF23FB3E2E}"/>
              </a:ext>
            </a:extLst>
          </p:cNvPr>
          <p:cNvSpPr txBox="1">
            <a:spLocks/>
          </p:cNvSpPr>
          <p:nvPr/>
        </p:nvSpPr>
        <p:spPr>
          <a:xfrm>
            <a:off x="119270" y="1526072"/>
            <a:ext cx="4306956" cy="261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What we just did was called an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outer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join,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it is synonymous with the union – we keep all the available columns and fill in the missing values with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NaN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/>
              <a:t>Alternatively, we can do an </a:t>
            </a:r>
            <a:r>
              <a:rPr lang="en-GB" i="1" dirty="0"/>
              <a:t>inner join</a:t>
            </a:r>
            <a:r>
              <a:rPr lang="en-GB" dirty="0"/>
              <a:t>, which is synonymous with the intersection – we only keep what they both have it common.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0C3FDA-47A7-C72E-8673-44099D5CC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5304" y="1526072"/>
            <a:ext cx="7546696" cy="481616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811432-3559-CF0E-1645-070B8D0F7D48}"/>
              </a:ext>
            </a:extLst>
          </p:cNvPr>
          <p:cNvCxnSpPr>
            <a:cxnSpLocks/>
          </p:cNvCxnSpPr>
          <p:nvPr/>
        </p:nvCxnSpPr>
        <p:spPr>
          <a:xfrm flipV="1">
            <a:off x="3829878" y="2002055"/>
            <a:ext cx="6652034" cy="24109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18298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17" y="1428060"/>
            <a:ext cx="5854148" cy="4351338"/>
          </a:xfrm>
        </p:spPr>
        <p:txBody>
          <a:bodyPr/>
          <a:lstStyle/>
          <a:p>
            <a:r>
              <a:rPr lang="en-GB" dirty="0"/>
              <a:t>We’ve been presented with a dataset that was answered by the same individuals, and we want to </a:t>
            </a:r>
            <a:r>
              <a:rPr lang="en-GB" i="1" dirty="0"/>
              <a:t>merge</a:t>
            </a:r>
            <a:r>
              <a:rPr lang="en-GB" dirty="0"/>
              <a:t> them together.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FC1B25F1-5F79-5C69-0812-B2D9360E851A}"/>
              </a:ext>
            </a:extLst>
          </p:cNvPr>
          <p:cNvSpPr txBox="1">
            <a:spLocks/>
          </p:cNvSpPr>
          <p:nvPr/>
        </p:nvSpPr>
        <p:spPr>
          <a:xfrm>
            <a:off x="6337852" y="1428060"/>
            <a:ext cx="5854148" cy="26114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57550097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17" y="1428060"/>
            <a:ext cx="5854148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We’ve been presented with a dataset that was answered by the same individuals, and we want to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merge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them together.</a:t>
            </a:r>
          </a:p>
          <a:p>
            <a:r>
              <a:rPr lang="en-GB" dirty="0"/>
              <a:t>Make sure </a:t>
            </a:r>
            <a:r>
              <a:rPr lang="en-GB" i="1" dirty="0" err="1"/>
              <a:t>dirty_data_to_merge.csv</a:t>
            </a:r>
            <a:r>
              <a:rPr lang="en-GB" dirty="0"/>
              <a:t> is in your folder.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FC1B25F1-5F79-5C69-0812-B2D9360E851A}"/>
              </a:ext>
            </a:extLst>
          </p:cNvPr>
          <p:cNvSpPr txBox="1">
            <a:spLocks/>
          </p:cNvSpPr>
          <p:nvPr/>
        </p:nvSpPr>
        <p:spPr>
          <a:xfrm>
            <a:off x="6337852" y="1428060"/>
            <a:ext cx="5854148" cy="26114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E481A-F891-4F91-0A89-2A0567A71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57" y="4039507"/>
            <a:ext cx="11237843" cy="281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871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17" y="1428060"/>
            <a:ext cx="5854148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We’ve been presented with a dataset that was answered by the same individuals, and we want to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merge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them together.</a:t>
            </a: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Make sure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dirty_data_to_merge.csv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is in your folder.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36887-05C5-7770-4EA8-5FBC6EB79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57" y="4039507"/>
            <a:ext cx="11237843" cy="2818493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FC1B25F1-5F79-5C69-0812-B2D9360E851A}"/>
              </a:ext>
            </a:extLst>
          </p:cNvPr>
          <p:cNvSpPr txBox="1">
            <a:spLocks/>
          </p:cNvSpPr>
          <p:nvPr/>
        </p:nvSpPr>
        <p:spPr>
          <a:xfrm>
            <a:off x="6337852" y="1428060"/>
            <a:ext cx="5854148" cy="26114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i="1" dirty="0"/>
              <a:t>merging</a:t>
            </a:r>
            <a:r>
              <a:rPr lang="en-GB" dirty="0"/>
              <a:t> is the process of combining datasets “</a:t>
            </a:r>
            <a:r>
              <a:rPr lang="en-GB" dirty="0" err="1"/>
              <a:t>horizonatally</a:t>
            </a:r>
            <a:r>
              <a:rPr lang="en-GB" dirty="0"/>
              <a:t>” rather than “vertically” (like </a:t>
            </a:r>
            <a:r>
              <a:rPr lang="en-GB" i="1" dirty="0" err="1"/>
              <a:t>concat</a:t>
            </a:r>
            <a:r>
              <a:rPr lang="en-GB" dirty="0"/>
              <a:t>), which means we need a unique identifier (</a:t>
            </a:r>
            <a:r>
              <a:rPr lang="en-GB" i="1" dirty="0"/>
              <a:t>Id</a:t>
            </a:r>
            <a:r>
              <a:rPr lang="en-GB" dirty="0"/>
              <a:t>) to use to stitch the </a:t>
            </a:r>
            <a:r>
              <a:rPr lang="en-GB" i="1" dirty="0" err="1"/>
              <a:t>dataframes</a:t>
            </a:r>
            <a:r>
              <a:rPr lang="en-GB" i="1" dirty="0"/>
              <a:t> </a:t>
            </a:r>
            <a:r>
              <a:rPr lang="en-GB" dirty="0"/>
              <a:t>together.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64100942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17" y="1428060"/>
            <a:ext cx="4807226" cy="4351338"/>
          </a:xfrm>
        </p:spPr>
        <p:txBody>
          <a:bodyPr/>
          <a:lstStyle/>
          <a:p>
            <a:r>
              <a:rPr lang="en-GB" dirty="0"/>
              <a:t>Let us see what </a:t>
            </a:r>
            <a:r>
              <a:rPr lang="en-GB" i="1" dirty="0"/>
              <a:t>Id</a:t>
            </a:r>
            <a:r>
              <a:rPr lang="en-GB" dirty="0"/>
              <a:t>s the two </a:t>
            </a:r>
            <a:r>
              <a:rPr lang="en-GB" i="1" dirty="0" err="1"/>
              <a:t>dataframes</a:t>
            </a:r>
            <a:r>
              <a:rPr lang="en-GB" dirty="0"/>
              <a:t> share.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isin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14D37-CC30-1E48-41B6-AFCAD3FD3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359" y="1327150"/>
            <a:ext cx="6940641" cy="21018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E07D4E-F243-4335-431C-A42027BA427C}"/>
              </a:ext>
            </a:extLst>
          </p:cNvPr>
          <p:cNvCxnSpPr/>
          <p:nvPr/>
        </p:nvCxnSpPr>
        <p:spPr>
          <a:xfrm>
            <a:off x="3445844" y="2002055"/>
            <a:ext cx="1695999" cy="875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80787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17" y="1428060"/>
            <a:ext cx="4807226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Let us see what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 the two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share.</a:t>
            </a:r>
          </a:p>
          <a:p>
            <a:r>
              <a:rPr lang="en-GB" i="1" dirty="0" err="1"/>
              <a:t>isin</a:t>
            </a:r>
            <a:r>
              <a:rPr lang="en-GB" dirty="0"/>
              <a:t> checks whether elements in the </a:t>
            </a:r>
            <a:r>
              <a:rPr lang="en-GB" i="1" dirty="0"/>
              <a:t>series</a:t>
            </a:r>
            <a:r>
              <a:rPr lang="en-GB" dirty="0"/>
              <a:t> </a:t>
            </a:r>
            <a:r>
              <a:rPr lang="en-GB" i="1" dirty="0"/>
              <a:t>df3.Id</a:t>
            </a:r>
            <a:r>
              <a:rPr lang="en-GB" dirty="0"/>
              <a:t> are in the </a:t>
            </a:r>
            <a:r>
              <a:rPr lang="en-GB" i="1" dirty="0"/>
              <a:t>series</a:t>
            </a:r>
            <a:r>
              <a:rPr lang="en-GB" dirty="0"/>
              <a:t> </a:t>
            </a:r>
            <a:r>
              <a:rPr lang="en-GB" i="1" dirty="0" err="1"/>
              <a:t>df.Id</a:t>
            </a:r>
            <a:endParaRPr lang="en-GB" i="1" dirty="0"/>
          </a:p>
          <a:p>
            <a:r>
              <a:rPr lang="en-GB" dirty="0"/>
              <a:t>It returns a </a:t>
            </a:r>
            <a:r>
              <a:rPr lang="en-GB" i="1" dirty="0"/>
              <a:t>Boolean</a:t>
            </a:r>
            <a:r>
              <a:rPr lang="en-GB" dirty="0"/>
              <a:t> list.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isin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14D37-CC30-1E48-41B6-AFCAD3FD3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359" y="1327150"/>
            <a:ext cx="6940641" cy="21018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33646D-3A2D-AD56-682A-08663AF83E6D}"/>
              </a:ext>
            </a:extLst>
          </p:cNvPr>
          <p:cNvCxnSpPr/>
          <p:nvPr/>
        </p:nvCxnSpPr>
        <p:spPr>
          <a:xfrm flipV="1">
            <a:off x="1049154" y="1809549"/>
            <a:ext cx="7594332" cy="587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99694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D4E9B-5AFD-24FA-FC17-17C8121F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17" y="1428060"/>
            <a:ext cx="4807226" cy="4351338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Let us see what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s the two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dataframes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share.</a:t>
            </a:r>
          </a:p>
          <a:p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isin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checks whether elements in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series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df3.Id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are in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series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df.Id</a:t>
            </a:r>
            <a:endParaRPr lang="en-GB" i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It returns a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Boolean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list.</a:t>
            </a:r>
          </a:p>
          <a:p>
            <a:r>
              <a:rPr lang="en-GB" dirty="0"/>
              <a:t>So we have at least 20 (dependent on duplicates) overlapping </a:t>
            </a:r>
            <a:r>
              <a:rPr lang="en-GB" i="1" dirty="0"/>
              <a:t>Id</a:t>
            </a:r>
            <a:r>
              <a:rPr lang="en-GB" dirty="0"/>
              <a:t>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</a:t>
            </a:r>
            <a:r>
              <a:rPr lang="en-GB" i="1" dirty="0" err="1"/>
              <a:t>isin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14D37-CC30-1E48-41B6-AFCAD3FD3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359" y="1327150"/>
            <a:ext cx="6940641" cy="210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1041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8BCCC-DEE0-2D97-FA55-B62962FA47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779"/>
          <a:stretch/>
        </p:blipFill>
        <p:spPr>
          <a:xfrm>
            <a:off x="0" y="2893365"/>
            <a:ext cx="12192000" cy="286297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436D429-1037-8F6E-E5C4-FF3BDEAF70AA}"/>
              </a:ext>
            </a:extLst>
          </p:cNvPr>
          <p:cNvSpPr txBox="1">
            <a:spLocks/>
          </p:cNvSpPr>
          <p:nvPr/>
        </p:nvSpPr>
        <p:spPr>
          <a:xfrm>
            <a:off x="334617" y="1428060"/>
            <a:ext cx="5416826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</a:t>
            </a:r>
            <a:r>
              <a:rPr lang="en-GB" i="1" dirty="0"/>
              <a:t>merge df3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41ABA80-CB08-6E17-C02E-7464C091FDB4}"/>
              </a:ext>
            </a:extLst>
          </p:cNvPr>
          <p:cNvSpPr txBox="1">
            <a:spLocks/>
          </p:cNvSpPr>
          <p:nvPr/>
        </p:nvSpPr>
        <p:spPr>
          <a:xfrm>
            <a:off x="6096000" y="1428059"/>
            <a:ext cx="5761385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8D5697-576E-8B67-9DA5-C620FA95CF65}"/>
              </a:ext>
            </a:extLst>
          </p:cNvPr>
          <p:cNvCxnSpPr/>
          <p:nvPr/>
        </p:nvCxnSpPr>
        <p:spPr>
          <a:xfrm flipH="1">
            <a:off x="2261937" y="1848051"/>
            <a:ext cx="288758" cy="1174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04408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FF5CD5-2297-FAA4-6445-56E7D2C58B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779"/>
          <a:stretch/>
        </p:blipFill>
        <p:spPr>
          <a:xfrm>
            <a:off x="0" y="2893365"/>
            <a:ext cx="12192000" cy="28629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436D429-1037-8F6E-E5C4-FF3BDEAF70AA}"/>
              </a:ext>
            </a:extLst>
          </p:cNvPr>
          <p:cNvSpPr txBox="1">
            <a:spLocks/>
          </p:cNvSpPr>
          <p:nvPr/>
        </p:nvSpPr>
        <p:spPr>
          <a:xfrm>
            <a:off x="334617" y="1428060"/>
            <a:ext cx="5416826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</a:t>
            </a:r>
            <a:r>
              <a:rPr lang="en-GB" i="1" dirty="0"/>
              <a:t>merge df3 </a:t>
            </a:r>
            <a:r>
              <a:rPr lang="en-GB" dirty="0"/>
              <a:t>with </a:t>
            </a:r>
            <a:r>
              <a:rPr lang="en-GB" i="1" dirty="0" err="1"/>
              <a:t>df</a:t>
            </a:r>
            <a:endParaRPr lang="en-GB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1A8A8A-DA1C-0B4F-87FE-00082E00C5C3}"/>
              </a:ext>
            </a:extLst>
          </p:cNvPr>
          <p:cNvCxnSpPr/>
          <p:nvPr/>
        </p:nvCxnSpPr>
        <p:spPr>
          <a:xfrm flipH="1">
            <a:off x="1934678" y="1799924"/>
            <a:ext cx="1607419" cy="1174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91216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CB1FE1-CC74-4C96-EF60-1A5D33C868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779"/>
          <a:stretch/>
        </p:blipFill>
        <p:spPr>
          <a:xfrm>
            <a:off x="0" y="2893365"/>
            <a:ext cx="12192000" cy="28629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436D429-1037-8F6E-E5C4-FF3BDEAF70AA}"/>
              </a:ext>
            </a:extLst>
          </p:cNvPr>
          <p:cNvSpPr txBox="1">
            <a:spLocks/>
          </p:cNvSpPr>
          <p:nvPr/>
        </p:nvSpPr>
        <p:spPr>
          <a:xfrm>
            <a:off x="334617" y="1428060"/>
            <a:ext cx="5416826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</a:t>
            </a:r>
            <a:r>
              <a:rPr lang="en-GB" i="1" dirty="0"/>
              <a:t>merge df3 </a:t>
            </a:r>
            <a:r>
              <a:rPr lang="en-GB" dirty="0"/>
              <a:t>with </a:t>
            </a:r>
            <a:r>
              <a:rPr lang="en-GB" i="1" dirty="0" err="1"/>
              <a:t>df</a:t>
            </a:r>
            <a:r>
              <a:rPr lang="en-GB" i="1" dirty="0"/>
              <a:t> </a:t>
            </a:r>
            <a:r>
              <a:rPr lang="en-GB" dirty="0"/>
              <a:t>connecting on </a:t>
            </a:r>
            <a:r>
              <a:rPr lang="en-GB" i="1" dirty="0"/>
              <a:t>Id</a:t>
            </a:r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B9B9E9-73A1-27F5-BC7F-A1815F3B359B}"/>
              </a:ext>
            </a:extLst>
          </p:cNvPr>
          <p:cNvCxnSpPr/>
          <p:nvPr/>
        </p:nvCxnSpPr>
        <p:spPr>
          <a:xfrm>
            <a:off x="1289785" y="2213113"/>
            <a:ext cx="1328287" cy="7610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7879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C31F63-C19F-A938-FD7D-A982A29785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779"/>
          <a:stretch/>
        </p:blipFill>
        <p:spPr>
          <a:xfrm>
            <a:off x="0" y="2893365"/>
            <a:ext cx="12192000" cy="28629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436D429-1037-8F6E-E5C4-FF3BDEAF70AA}"/>
              </a:ext>
            </a:extLst>
          </p:cNvPr>
          <p:cNvSpPr txBox="1">
            <a:spLocks/>
          </p:cNvSpPr>
          <p:nvPr/>
        </p:nvSpPr>
        <p:spPr>
          <a:xfrm>
            <a:off x="334617" y="1428060"/>
            <a:ext cx="5416826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</a:t>
            </a:r>
            <a:r>
              <a:rPr lang="en-GB" i="1" dirty="0"/>
              <a:t>merge df3 </a:t>
            </a:r>
            <a:r>
              <a:rPr lang="en-GB" dirty="0"/>
              <a:t>with </a:t>
            </a:r>
            <a:r>
              <a:rPr lang="en-GB" i="1" dirty="0" err="1"/>
              <a:t>df</a:t>
            </a:r>
            <a:r>
              <a:rPr lang="en-GB" i="1" dirty="0"/>
              <a:t> </a:t>
            </a:r>
            <a:r>
              <a:rPr lang="en-GB" dirty="0"/>
              <a:t>connecting on </a:t>
            </a:r>
            <a:r>
              <a:rPr lang="en-GB" i="1" dirty="0"/>
              <a:t>Id </a:t>
            </a:r>
            <a:r>
              <a:rPr lang="en-GB" dirty="0"/>
              <a:t>using the </a:t>
            </a:r>
            <a:r>
              <a:rPr lang="en-GB" i="1" dirty="0"/>
              <a:t>inner join method.</a:t>
            </a:r>
            <a:endParaRPr lang="en-GB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7D7EB24-2E48-5E3D-24C3-C1A3430C649D}"/>
              </a:ext>
            </a:extLst>
          </p:cNvPr>
          <p:cNvCxnSpPr>
            <a:cxnSpLocks/>
          </p:cNvCxnSpPr>
          <p:nvPr/>
        </p:nvCxnSpPr>
        <p:spPr>
          <a:xfrm flipH="1">
            <a:off x="3359217" y="2213113"/>
            <a:ext cx="182880" cy="780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8381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8BCCC-DEE0-2D97-FA55-B62962FA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3365"/>
            <a:ext cx="12192000" cy="3964635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436D429-1037-8F6E-E5C4-FF3BDEAF70AA}"/>
              </a:ext>
            </a:extLst>
          </p:cNvPr>
          <p:cNvSpPr txBox="1">
            <a:spLocks/>
          </p:cNvSpPr>
          <p:nvPr/>
        </p:nvSpPr>
        <p:spPr>
          <a:xfrm>
            <a:off x="334617" y="1428060"/>
            <a:ext cx="5416826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merge df3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with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connecting on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Id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using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inner join method.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41ABA80-CB08-6E17-C02E-7464C091FDB4}"/>
              </a:ext>
            </a:extLst>
          </p:cNvPr>
          <p:cNvSpPr txBox="1">
            <a:spLocks/>
          </p:cNvSpPr>
          <p:nvPr/>
        </p:nvSpPr>
        <p:spPr>
          <a:xfrm>
            <a:off x="6096000" y="1428059"/>
            <a:ext cx="5761385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see that </a:t>
            </a:r>
            <a:r>
              <a:rPr lang="en-GB" i="1" dirty="0"/>
              <a:t>timestamp</a:t>
            </a:r>
            <a:r>
              <a:rPr lang="en-GB" dirty="0"/>
              <a:t> has been kept, but now has </a:t>
            </a:r>
            <a:r>
              <a:rPr lang="en-GB" i="1" dirty="0"/>
              <a:t>.x </a:t>
            </a:r>
            <a:r>
              <a:rPr lang="en-GB" dirty="0"/>
              <a:t>and </a:t>
            </a:r>
            <a:r>
              <a:rPr lang="en-GB" i="1" dirty="0"/>
              <a:t>.y</a:t>
            </a:r>
            <a:r>
              <a:rPr lang="en-GB" dirty="0"/>
              <a:t> to depict which </a:t>
            </a:r>
            <a:r>
              <a:rPr lang="en-GB" i="1" dirty="0" err="1"/>
              <a:t>dataframe</a:t>
            </a:r>
            <a:r>
              <a:rPr lang="en-GB" i="1" dirty="0"/>
              <a:t> </a:t>
            </a:r>
            <a:r>
              <a:rPr lang="en-GB" dirty="0"/>
              <a:t>it came from.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D2AEB2-D0DB-6946-F180-6124168AC025}"/>
              </a:ext>
            </a:extLst>
          </p:cNvPr>
          <p:cNvCxnSpPr/>
          <p:nvPr/>
        </p:nvCxnSpPr>
        <p:spPr>
          <a:xfrm flipH="1">
            <a:off x="1855304" y="2213113"/>
            <a:ext cx="7341705" cy="19348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19093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8BCCC-DEE0-2D97-FA55-B62962FA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3365"/>
            <a:ext cx="12192000" cy="3964635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436D429-1037-8F6E-E5C4-FF3BDEAF70AA}"/>
              </a:ext>
            </a:extLst>
          </p:cNvPr>
          <p:cNvSpPr txBox="1">
            <a:spLocks/>
          </p:cNvSpPr>
          <p:nvPr/>
        </p:nvSpPr>
        <p:spPr>
          <a:xfrm>
            <a:off x="334617" y="1428060"/>
            <a:ext cx="5416826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merge df3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with </a:t>
            </a:r>
            <a:r>
              <a:rPr lang="en-GB" i="1" dirty="0" err="1">
                <a:solidFill>
                  <a:schemeClr val="bg2">
                    <a:lumMod val="75000"/>
                  </a:schemeClr>
                </a:solidFill>
              </a:rPr>
              <a:t>df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connecting on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Id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using the </a:t>
            </a:r>
            <a:r>
              <a:rPr lang="en-GB" i="1" dirty="0">
                <a:solidFill>
                  <a:schemeClr val="bg2">
                    <a:lumMod val="75000"/>
                  </a:schemeClr>
                </a:solidFill>
              </a:rPr>
              <a:t>inner join method.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41ABA80-CB08-6E17-C02E-7464C091FDB4}"/>
              </a:ext>
            </a:extLst>
          </p:cNvPr>
          <p:cNvSpPr txBox="1">
            <a:spLocks/>
          </p:cNvSpPr>
          <p:nvPr/>
        </p:nvSpPr>
        <p:spPr>
          <a:xfrm>
            <a:off x="6096000" y="1428059"/>
            <a:ext cx="5761385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see that </a:t>
            </a:r>
            <a:r>
              <a:rPr lang="en-GB" i="1" dirty="0"/>
              <a:t>timestamp</a:t>
            </a:r>
            <a:r>
              <a:rPr lang="en-GB" dirty="0"/>
              <a:t> has been kept, but now has </a:t>
            </a:r>
            <a:r>
              <a:rPr lang="en-GB" i="1" dirty="0"/>
              <a:t>.x </a:t>
            </a:r>
            <a:r>
              <a:rPr lang="en-GB" dirty="0"/>
              <a:t>and </a:t>
            </a:r>
            <a:r>
              <a:rPr lang="en-GB" i="1" dirty="0"/>
              <a:t>.y</a:t>
            </a:r>
            <a:r>
              <a:rPr lang="en-GB" dirty="0"/>
              <a:t> to depict which </a:t>
            </a:r>
            <a:r>
              <a:rPr lang="en-GB" i="1" dirty="0" err="1"/>
              <a:t>dataframe</a:t>
            </a:r>
            <a:r>
              <a:rPr lang="en-GB" i="1" dirty="0"/>
              <a:t> </a:t>
            </a:r>
            <a:r>
              <a:rPr lang="en-GB" dirty="0"/>
              <a:t>it came from.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ED334D-69D7-099E-E615-3CE71BAFC278}"/>
              </a:ext>
            </a:extLst>
          </p:cNvPr>
          <p:cNvCxnSpPr/>
          <p:nvPr/>
        </p:nvCxnSpPr>
        <p:spPr>
          <a:xfrm flipH="1">
            <a:off x="8412480" y="2194560"/>
            <a:ext cx="1857676" cy="1915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53115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everal circles with text&#10;&#10;Description automatically generated">
            <a:extLst>
              <a:ext uri="{FF2B5EF4-FFF2-40B4-BE49-F238E27FC236}">
                <a16:creationId xmlns:a16="http://schemas.microsoft.com/office/drawing/2014/main" id="{AF1AB762-D491-E5E9-1E9D-61CDFEDA1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23950"/>
            <a:ext cx="6850829" cy="38535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6BF3C8-0B4E-A345-7CD3-53EDA4F2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Wrangling with </a:t>
            </a:r>
            <a:r>
              <a:rPr lang="en-GB" i="1" dirty="0"/>
              <a:t>pandas: merge</a:t>
            </a:r>
            <a:r>
              <a:rPr lang="en-GB" dirty="0"/>
              <a:t>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436D429-1037-8F6E-E5C4-FF3BDEAF70AA}"/>
              </a:ext>
            </a:extLst>
          </p:cNvPr>
          <p:cNvSpPr txBox="1">
            <a:spLocks/>
          </p:cNvSpPr>
          <p:nvPr/>
        </p:nvSpPr>
        <p:spPr>
          <a:xfrm>
            <a:off x="334617" y="1428060"/>
            <a:ext cx="3871623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 with </a:t>
            </a:r>
            <a:r>
              <a:rPr lang="en-GB" i="1" dirty="0" err="1"/>
              <a:t>concat</a:t>
            </a:r>
            <a:r>
              <a:rPr lang="en-GB" dirty="0"/>
              <a:t>, there are many different </a:t>
            </a:r>
            <a:r>
              <a:rPr lang="en-GB" i="1" dirty="0"/>
              <a:t>join methods.</a:t>
            </a:r>
            <a:endParaRPr lang="en-GB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41ABA80-CB08-6E17-C02E-7464C091FDB4}"/>
              </a:ext>
            </a:extLst>
          </p:cNvPr>
          <p:cNvSpPr txBox="1">
            <a:spLocks/>
          </p:cNvSpPr>
          <p:nvPr/>
        </p:nvSpPr>
        <p:spPr>
          <a:xfrm>
            <a:off x="6096000" y="1428059"/>
            <a:ext cx="5761385" cy="1222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0C660-C948-DAB2-2F03-8E0768F84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674" y="1332406"/>
            <a:ext cx="6875325" cy="3624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6B57AA-74C8-A03B-5D73-2742657D1549}"/>
              </a:ext>
            </a:extLst>
          </p:cNvPr>
          <p:cNvSpPr txBox="1"/>
          <p:nvPr/>
        </p:nvSpPr>
        <p:spPr>
          <a:xfrm>
            <a:off x="5256564" y="4957011"/>
            <a:ext cx="7161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https://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pandas.pydata.org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/pandas-docs/stable/reference/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api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pandas.merge.html#pandas.merge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3D965-0381-4C35-EFB5-AAC5501F8211}"/>
              </a:ext>
            </a:extLst>
          </p:cNvPr>
          <p:cNvSpPr txBox="1"/>
          <p:nvPr/>
        </p:nvSpPr>
        <p:spPr>
          <a:xfrm>
            <a:off x="183680" y="6492875"/>
            <a:ext cx="4843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https://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www.youtube.com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lang="en-GB" dirty="0" err="1">
                <a:solidFill>
                  <a:schemeClr val="bg2">
                    <a:lumMod val="75000"/>
                  </a:schemeClr>
                </a:solidFill>
              </a:rPr>
              <a:t>watch?v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=4JLkHtIxXlA</a:t>
            </a:r>
          </a:p>
        </p:txBody>
      </p:sp>
    </p:spTree>
    <p:extLst>
      <p:ext uri="{BB962C8B-B14F-4D97-AF65-F5344CB8AC3E}">
        <p14:creationId xmlns:p14="http://schemas.microsoft.com/office/powerpoint/2010/main" val="27421730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455F08-DAE8-6358-3C8B-0C46D3761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27771" cy="4351338"/>
          </a:xfrm>
        </p:spPr>
        <p:txBody>
          <a:bodyPr/>
          <a:lstStyle/>
          <a:p>
            <a:r>
              <a:rPr lang="en-GB" i="1" dirty="0"/>
              <a:t>pandas </a:t>
            </a:r>
            <a:r>
              <a:rPr lang="en-GB" dirty="0"/>
              <a:t>website</a:t>
            </a:r>
            <a:r>
              <a:rPr lang="en-GB" i="1" dirty="0"/>
              <a:t>: </a:t>
            </a:r>
            <a:r>
              <a:rPr lang="en-GB" dirty="0">
                <a:hlinkClick r:id="rId2"/>
              </a:rPr>
              <a:t>https://pandas.pydata.org/docs/reference/index.html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Here you can search for any of the </a:t>
            </a:r>
            <a:r>
              <a:rPr lang="en-GB" i="1" dirty="0"/>
              <a:t>function</a:t>
            </a:r>
            <a:r>
              <a:rPr lang="en-GB" dirty="0"/>
              <a:t>s, </a:t>
            </a:r>
            <a:r>
              <a:rPr lang="en-GB" i="1" dirty="0" err="1"/>
              <a:t>dtypes</a:t>
            </a:r>
            <a:r>
              <a:rPr lang="en-GB" dirty="0"/>
              <a:t>, </a:t>
            </a:r>
            <a:r>
              <a:rPr lang="en-GB" i="1" dirty="0"/>
              <a:t>attributes</a:t>
            </a:r>
            <a:r>
              <a:rPr lang="en-GB" dirty="0"/>
              <a:t> that we have used here.</a:t>
            </a:r>
          </a:p>
          <a:p>
            <a:r>
              <a:rPr lang="en-GB" dirty="0"/>
              <a:t>Stack Overflow: </a:t>
            </a:r>
            <a:r>
              <a:rPr lang="en-GB" dirty="0">
                <a:hlinkClick r:id="rId3"/>
              </a:rPr>
              <a:t>https://stackoverflow.com/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the largest, most trusted online community for developers to learn, share​ ​their programming ​knowledge, and build their careers.</a:t>
            </a:r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947DDC-BC4D-6891-7791-C2D06F56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/>
              <a:t>pandas: </a:t>
            </a:r>
            <a:r>
              <a:rPr lang="en-GB" dirty="0"/>
              <a:t>where to find definitions</a:t>
            </a:r>
            <a:endParaRPr lang="en-GB" i="1" dirty="0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1B922054-4538-E25D-C4EB-D946E0CBE1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53" t="11959" r="10421" b="10147"/>
          <a:stretch/>
        </p:blipFill>
        <p:spPr>
          <a:xfrm>
            <a:off x="8200724" y="1450238"/>
            <a:ext cx="3991276" cy="39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2800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1186B9-3186-85C1-12A6-E5C92325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08" y="365125"/>
            <a:ext cx="11656194" cy="1325563"/>
          </a:xfrm>
        </p:spPr>
        <p:txBody>
          <a:bodyPr/>
          <a:lstStyle/>
          <a:p>
            <a:r>
              <a:rPr lang="en-GB" dirty="0"/>
              <a:t>The data science process: Book Recommendations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64517B-B93B-552E-0413-38C1CDD4AF5D}"/>
              </a:ext>
            </a:extLst>
          </p:cNvPr>
          <p:cNvGrpSpPr/>
          <p:nvPr/>
        </p:nvGrpSpPr>
        <p:grpSpPr>
          <a:xfrm>
            <a:off x="4453642" y="1477597"/>
            <a:ext cx="7640516" cy="4861658"/>
            <a:chOff x="498230" y="1559169"/>
            <a:chExt cx="7640516" cy="486165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A026DF8-0F35-1B42-D26C-BB8FB8DFF5CA}"/>
                </a:ext>
              </a:extLst>
            </p:cNvPr>
            <p:cNvSpPr/>
            <p:nvPr/>
          </p:nvSpPr>
          <p:spPr>
            <a:xfrm>
              <a:off x="656491" y="1559169"/>
              <a:ext cx="1055077" cy="8675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Real world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9D0844F-A9D6-F16C-4DF0-238D2537F6C2}"/>
                </a:ext>
              </a:extLst>
            </p:cNvPr>
            <p:cNvSpPr/>
            <p:nvPr/>
          </p:nvSpPr>
          <p:spPr>
            <a:xfrm>
              <a:off x="498230" y="2753213"/>
              <a:ext cx="1371600" cy="86750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Data Collection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94A6B77-1B68-D7B2-8900-D6933BF3B474}"/>
                </a:ext>
              </a:extLst>
            </p:cNvPr>
            <p:cNvSpPr/>
            <p:nvPr/>
          </p:nvSpPr>
          <p:spPr>
            <a:xfrm>
              <a:off x="498230" y="4065343"/>
              <a:ext cx="1371600" cy="867508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Data Wrangling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F31E76E-DA4F-56E6-974E-166358C99F02}"/>
                </a:ext>
              </a:extLst>
            </p:cNvPr>
            <p:cNvSpPr/>
            <p:nvPr/>
          </p:nvSpPr>
          <p:spPr>
            <a:xfrm>
              <a:off x="498230" y="5553319"/>
              <a:ext cx="1371600" cy="867508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Data Cleaning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DA39C86-3C62-78E9-BA86-FA6C602C0DE0}"/>
                </a:ext>
              </a:extLst>
            </p:cNvPr>
            <p:cNvSpPr/>
            <p:nvPr/>
          </p:nvSpPr>
          <p:spPr>
            <a:xfrm>
              <a:off x="6635262" y="1559169"/>
              <a:ext cx="1371600" cy="86750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Data Solution / Product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B476F5A4-CD79-A0E8-AFF5-F70298301230}"/>
                </a:ext>
              </a:extLst>
            </p:cNvPr>
            <p:cNvSpPr/>
            <p:nvPr/>
          </p:nvSpPr>
          <p:spPr>
            <a:xfrm>
              <a:off x="6503377" y="4694115"/>
              <a:ext cx="1635369" cy="86750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Mathematical Modelling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7D9577B1-7500-BD80-CCBE-A90351901E2C}"/>
                </a:ext>
              </a:extLst>
            </p:cNvPr>
            <p:cNvSpPr/>
            <p:nvPr/>
          </p:nvSpPr>
          <p:spPr>
            <a:xfrm>
              <a:off x="3423142" y="4694115"/>
              <a:ext cx="1371600" cy="86750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Exploratory Data Analysis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3FE00EC-F4CA-2CE1-E910-B7B4B6B533E0}"/>
                </a:ext>
              </a:extLst>
            </p:cNvPr>
            <p:cNvSpPr/>
            <p:nvPr/>
          </p:nvSpPr>
          <p:spPr>
            <a:xfrm>
              <a:off x="4794742" y="3183547"/>
              <a:ext cx="1805352" cy="86750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Communication and Visualisation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E7AC68D-BB6B-C6B5-AF38-30FA75EC916C}"/>
                </a:ext>
              </a:extLst>
            </p:cNvPr>
            <p:cNvCxnSpPr>
              <a:stCxn id="7" idx="4"/>
              <a:endCxn id="8" idx="0"/>
            </p:cNvCxnSpPr>
            <p:nvPr/>
          </p:nvCxnSpPr>
          <p:spPr>
            <a:xfrm>
              <a:off x="1184030" y="2426677"/>
              <a:ext cx="0" cy="3265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237D49D-3926-D0B4-76A6-911174F154D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1184030" y="3620721"/>
              <a:ext cx="0" cy="44462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2775283-3624-A70C-486D-1098FFC9520A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1184030" y="4932851"/>
              <a:ext cx="0" cy="6204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3E9F7C6-6AF5-9FF1-78D1-B2A527DA9099}"/>
                </a:ext>
              </a:extLst>
            </p:cNvPr>
            <p:cNvCxnSpPr>
              <a:stCxn id="10" idx="3"/>
              <a:endCxn id="13" idx="1"/>
            </p:cNvCxnSpPr>
            <p:nvPr/>
          </p:nvCxnSpPr>
          <p:spPr>
            <a:xfrm flipV="1">
              <a:off x="1869830" y="5127869"/>
              <a:ext cx="1553312" cy="8592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0189157-8C52-07C8-F74C-0967F13FBCA3}"/>
                </a:ext>
              </a:extLst>
            </p:cNvPr>
            <p:cNvCxnSpPr>
              <a:stCxn id="7" idx="5"/>
              <a:endCxn id="13" idx="1"/>
            </p:cNvCxnSpPr>
            <p:nvPr/>
          </p:nvCxnSpPr>
          <p:spPr>
            <a:xfrm>
              <a:off x="1557056" y="2299633"/>
              <a:ext cx="1866086" cy="28282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C53C2C7-F28F-3D59-6DEA-15F8E7A2FA57}"/>
                </a:ext>
              </a:extLst>
            </p:cNvPr>
            <p:cNvCxnSpPr>
              <a:stCxn id="13" idx="3"/>
              <a:endCxn id="12" idx="1"/>
            </p:cNvCxnSpPr>
            <p:nvPr/>
          </p:nvCxnSpPr>
          <p:spPr>
            <a:xfrm>
              <a:off x="4794742" y="5127869"/>
              <a:ext cx="170863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0F6CEB1-AB4D-A34B-2449-C894904B035A}"/>
                </a:ext>
              </a:extLst>
            </p:cNvPr>
            <p:cNvCxnSpPr>
              <a:stCxn id="12" idx="0"/>
              <a:endCxn id="14" idx="2"/>
            </p:cNvCxnSpPr>
            <p:nvPr/>
          </p:nvCxnSpPr>
          <p:spPr>
            <a:xfrm flipH="1" flipV="1">
              <a:off x="5697418" y="4051055"/>
              <a:ext cx="1623644" cy="6430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2179930-F18E-C969-1FAC-DF7F8D92BE3F}"/>
                </a:ext>
              </a:extLst>
            </p:cNvPr>
            <p:cNvCxnSpPr>
              <a:stCxn id="13" idx="0"/>
              <a:endCxn id="14" idx="2"/>
            </p:cNvCxnSpPr>
            <p:nvPr/>
          </p:nvCxnSpPr>
          <p:spPr>
            <a:xfrm flipV="1">
              <a:off x="4108942" y="4051055"/>
              <a:ext cx="1588476" cy="6430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5F525EE-0648-88FB-9D1E-E2583F6E31C5}"/>
                </a:ext>
              </a:extLst>
            </p:cNvPr>
            <p:cNvCxnSpPr>
              <a:stCxn id="12" idx="0"/>
              <a:endCxn id="11" idx="2"/>
            </p:cNvCxnSpPr>
            <p:nvPr/>
          </p:nvCxnSpPr>
          <p:spPr>
            <a:xfrm flipV="1">
              <a:off x="7321062" y="2426677"/>
              <a:ext cx="0" cy="22674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F977947-A9FC-D27B-E7A8-F73BBB0E1450}"/>
                </a:ext>
              </a:extLst>
            </p:cNvPr>
            <p:cNvCxnSpPr>
              <a:stCxn id="11" idx="1"/>
              <a:endCxn id="7" idx="6"/>
            </p:cNvCxnSpPr>
            <p:nvPr/>
          </p:nvCxnSpPr>
          <p:spPr>
            <a:xfrm flipH="1">
              <a:off x="1711568" y="1992923"/>
              <a:ext cx="492369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C75B186-F13E-FC44-15B9-8C4D8EF7A79F}"/>
                </a:ext>
              </a:extLst>
            </p:cNvPr>
            <p:cNvCxnSpPr>
              <a:stCxn id="14" idx="1"/>
              <a:endCxn id="7" idx="6"/>
            </p:cNvCxnSpPr>
            <p:nvPr/>
          </p:nvCxnSpPr>
          <p:spPr>
            <a:xfrm flipH="1" flipV="1">
              <a:off x="1711568" y="1992923"/>
              <a:ext cx="3083174" cy="16243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Elbow Connector 42">
              <a:extLst>
                <a:ext uri="{FF2B5EF4-FFF2-40B4-BE49-F238E27FC236}">
                  <a16:creationId xmlns:a16="http://schemas.microsoft.com/office/drawing/2014/main" id="{91D8B285-623C-FB73-52BC-D2498FE4FBAE}"/>
                </a:ext>
              </a:extLst>
            </p:cNvPr>
            <p:cNvCxnSpPr>
              <a:cxnSpLocks/>
              <a:stCxn id="13" idx="2"/>
              <a:endCxn id="8" idx="1"/>
            </p:cNvCxnSpPr>
            <p:nvPr/>
          </p:nvCxnSpPr>
          <p:spPr>
            <a:xfrm rot="5400000" flipH="1">
              <a:off x="1116258" y="2568939"/>
              <a:ext cx="2374656" cy="3610712"/>
            </a:xfrm>
            <a:prstGeom prst="bentConnector4">
              <a:avLst>
                <a:gd name="adj1" fmla="val -49615"/>
                <a:gd name="adj2" fmla="val 106331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Elbow Connector 46">
              <a:extLst>
                <a:ext uri="{FF2B5EF4-FFF2-40B4-BE49-F238E27FC236}">
                  <a16:creationId xmlns:a16="http://schemas.microsoft.com/office/drawing/2014/main" id="{E5B7B320-2668-3443-B4AF-94E4E6DD8962}"/>
                </a:ext>
              </a:extLst>
            </p:cNvPr>
            <p:cNvCxnSpPr>
              <a:stCxn id="13" idx="2"/>
              <a:endCxn id="9" idx="1"/>
            </p:cNvCxnSpPr>
            <p:nvPr/>
          </p:nvCxnSpPr>
          <p:spPr>
            <a:xfrm rot="5400000" flipH="1">
              <a:off x="1772323" y="3225004"/>
              <a:ext cx="1062526" cy="3610712"/>
            </a:xfrm>
            <a:prstGeom prst="bentConnector4">
              <a:avLst>
                <a:gd name="adj1" fmla="val -110884"/>
                <a:gd name="adj2" fmla="val 106331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5C17943A-2878-93BC-107A-EC938FBF2AA2}"/>
                </a:ext>
              </a:extLst>
            </p:cNvPr>
            <p:cNvCxnSpPr>
              <a:stCxn id="13" idx="2"/>
              <a:endCxn id="10" idx="1"/>
            </p:cNvCxnSpPr>
            <p:nvPr/>
          </p:nvCxnSpPr>
          <p:spPr>
            <a:xfrm rot="5400000">
              <a:off x="2090861" y="3968992"/>
              <a:ext cx="425450" cy="3610712"/>
            </a:xfrm>
            <a:prstGeom prst="bentConnector4">
              <a:avLst>
                <a:gd name="adj1" fmla="val 277726"/>
                <a:gd name="adj2" fmla="val 106331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AAC8F2-6475-8350-759C-E0216D3DB137}"/>
              </a:ext>
            </a:extLst>
          </p:cNvPr>
          <p:cNvCxnSpPr>
            <a:cxnSpLocks/>
            <a:stCxn id="14" idx="0"/>
            <a:endCxn id="11" idx="2"/>
          </p:cNvCxnSpPr>
          <p:nvPr/>
        </p:nvCxnSpPr>
        <p:spPr>
          <a:xfrm flipV="1">
            <a:off x="9652830" y="2345105"/>
            <a:ext cx="1623644" cy="756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8E49FD3D-429A-FFD4-85B6-9653966C5E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1" t="11011" r="10616" b="9915"/>
          <a:stretch/>
        </p:blipFill>
        <p:spPr>
          <a:xfrm>
            <a:off x="9980" y="2218061"/>
            <a:ext cx="3930457" cy="39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6852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289C19-3AD7-CF1F-5187-2F207E4BF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summary, we have talked about:</a:t>
            </a:r>
          </a:p>
          <a:p>
            <a:pPr lvl="1"/>
            <a:r>
              <a:rPr lang="en-GB" i="1" dirty="0"/>
              <a:t>pandas;</a:t>
            </a:r>
          </a:p>
          <a:p>
            <a:pPr lvl="1"/>
            <a:r>
              <a:rPr lang="en-GB" dirty="0"/>
              <a:t>Lots of </a:t>
            </a:r>
            <a:r>
              <a:rPr lang="en-GB" i="1" dirty="0"/>
              <a:t>python </a:t>
            </a:r>
            <a:r>
              <a:rPr lang="en-GB" dirty="0"/>
              <a:t>top tips;</a:t>
            </a:r>
          </a:p>
          <a:p>
            <a:pPr lvl="1"/>
            <a:r>
              <a:rPr lang="en-GB" dirty="0"/>
              <a:t>Reading: </a:t>
            </a:r>
            <a:r>
              <a:rPr lang="en-GB" i="1" dirty="0"/>
              <a:t>info, describe;</a:t>
            </a:r>
          </a:p>
          <a:p>
            <a:pPr lvl="1"/>
            <a:r>
              <a:rPr lang="en-GB" dirty="0"/>
              <a:t>Wrangling: </a:t>
            </a:r>
            <a:r>
              <a:rPr lang="en-GB" i="1" dirty="0"/>
              <a:t>column names, new columns, </a:t>
            </a:r>
            <a:r>
              <a:rPr lang="en-GB" i="1" dirty="0" err="1"/>
              <a:t>concat</a:t>
            </a:r>
            <a:r>
              <a:rPr lang="en-GB" i="1" dirty="0"/>
              <a:t>, merge, join;</a:t>
            </a:r>
          </a:p>
          <a:p>
            <a:pPr lvl="1"/>
            <a:r>
              <a:rPr lang="en-GB" dirty="0"/>
              <a:t>Cleaning: </a:t>
            </a:r>
            <a:r>
              <a:rPr lang="en-GB" i="1" dirty="0" err="1"/>
              <a:t>NaN</a:t>
            </a:r>
            <a:r>
              <a:rPr lang="en-GB" i="1" dirty="0"/>
              <a:t>, duplicate, unique, apply.</a:t>
            </a:r>
            <a:endParaRPr lang="en-GB" dirty="0"/>
          </a:p>
          <a:p>
            <a:r>
              <a:rPr lang="en-GB" dirty="0"/>
              <a:t>What key points will you take home from today? </a:t>
            </a:r>
          </a:p>
          <a:p>
            <a:r>
              <a:rPr lang="en-GB" dirty="0"/>
              <a:t>Next week: exploratory data analysis!</a:t>
            </a:r>
          </a:p>
          <a:p>
            <a:r>
              <a:rPr lang="en-GB" dirty="0"/>
              <a:t>LABS ARE RIGHT NOW, CHICHESTER LET’S GO!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2A1044-CB8E-A0D8-5A63-C12E6EE6F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QED</a:t>
            </a:r>
          </a:p>
        </p:txBody>
      </p:sp>
    </p:spTree>
    <p:extLst>
      <p:ext uri="{BB962C8B-B14F-4D97-AF65-F5344CB8AC3E}">
        <p14:creationId xmlns:p14="http://schemas.microsoft.com/office/powerpoint/2010/main" val="361560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" id="{922BD145-1DA8-2F48-B9EB-19554B7300ED}" vid="{C2CADB44-0231-1040-B00E-DDDEB59E07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26637</TotalTime>
  <Words>6186</Words>
  <Application>Microsoft Macintosh PowerPoint</Application>
  <PresentationFormat>Widescreen</PresentationFormat>
  <Paragraphs>698</Paragraphs>
  <Slides>121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5" baseType="lpstr">
      <vt:lpstr>Arial</vt:lpstr>
      <vt:lpstr>Calibri</vt:lpstr>
      <vt:lpstr>Calibri Light</vt:lpstr>
      <vt:lpstr>Office Theme</vt:lpstr>
      <vt:lpstr>Data Science Research Methods Data Wrangling and Cleaning</vt:lpstr>
      <vt:lpstr>Last Week</vt:lpstr>
      <vt:lpstr>I WANT YOUR DATA</vt:lpstr>
      <vt:lpstr>Labs, Helpdesk, Office Hours, Discord, MSC Drop-in Clinic</vt:lpstr>
      <vt:lpstr>Today</vt:lpstr>
      <vt:lpstr>Pandas: Python Data Analysis Library</vt:lpstr>
      <vt:lpstr>Pandas: Python Data Analysis Library</vt:lpstr>
      <vt:lpstr>Pandas: Python Data Analysis Library</vt:lpstr>
      <vt:lpstr>Pandas: Python Data Analysis Library</vt:lpstr>
      <vt:lpstr>Pandas: Python Data Analysis Library</vt:lpstr>
      <vt:lpstr>Pandas: Python Data Analysis Library</vt:lpstr>
      <vt:lpstr>Pandas: Python Data Analysis Library</vt:lpstr>
      <vt:lpstr>dirty_data.csv</vt:lpstr>
      <vt:lpstr>dirty_data.csv</vt:lpstr>
      <vt:lpstr>dirty_data.csv</vt:lpstr>
      <vt:lpstr>dirty_data.csv</vt:lpstr>
      <vt:lpstr>Reading data into pandas</vt:lpstr>
      <vt:lpstr>Reading data into pandas</vt:lpstr>
      <vt:lpstr>Reading data into pandas</vt:lpstr>
      <vt:lpstr>Reading data into pandas: info</vt:lpstr>
      <vt:lpstr>Reading data into pandas: info</vt:lpstr>
      <vt:lpstr>Reading data into pandas: info</vt:lpstr>
      <vt:lpstr>Reading data into pandas: info</vt:lpstr>
      <vt:lpstr>Reading data into pandas: info</vt:lpstr>
      <vt:lpstr>Reading data into pandas: describe</vt:lpstr>
      <vt:lpstr>Reading data into pandas: describe</vt:lpstr>
      <vt:lpstr>Wrangling with pandas</vt:lpstr>
      <vt:lpstr>Wrangling with pandas</vt:lpstr>
      <vt:lpstr>Wrangling with pandas</vt:lpstr>
      <vt:lpstr>Wrangling with pandas: column names</vt:lpstr>
      <vt:lpstr>Wrangling with pandas: column names</vt:lpstr>
      <vt:lpstr>Wrangling with pandas: column names</vt:lpstr>
      <vt:lpstr>Wrangling with pandas: column names</vt:lpstr>
      <vt:lpstr>Cleaning with pandas</vt:lpstr>
      <vt:lpstr>Cleaning with pandas: NaNs</vt:lpstr>
      <vt:lpstr>Cleaning with pandas: NaNs</vt:lpstr>
      <vt:lpstr>Cleaning with pandas: NaNs</vt:lpstr>
      <vt:lpstr>Cleaning with pandas: NaNs</vt:lpstr>
      <vt:lpstr>Cleaning with pandas: NaNs</vt:lpstr>
      <vt:lpstr>Cleaning with pandas: NaNs</vt:lpstr>
      <vt:lpstr>Cleaning with pandas: NaNs</vt:lpstr>
      <vt:lpstr>Cleaning with pandas: duplicates</vt:lpstr>
      <vt:lpstr>Cleaning with pandas: duplicates</vt:lpstr>
      <vt:lpstr>Cleaning with pandas: duplicates</vt:lpstr>
      <vt:lpstr>Cleaning with pandas: duplicates</vt:lpstr>
      <vt:lpstr>Cleaning with pandas: duplicates</vt:lpstr>
      <vt:lpstr>Cleaning with pandas: duplicates</vt:lpstr>
      <vt:lpstr>Cleaning with pandas: drop_duplicates</vt:lpstr>
      <vt:lpstr>Cleaning with pandas: drop_duplicates</vt:lpstr>
      <vt:lpstr>Cleaning with pandas: drop_duplicates</vt:lpstr>
      <vt:lpstr>Cleaning with pandas: datetime</vt:lpstr>
      <vt:lpstr>Cleaning with pandas: datetime</vt:lpstr>
      <vt:lpstr>Cleaning with pandas: datetime</vt:lpstr>
      <vt:lpstr>Cleaning with pandas: datetime</vt:lpstr>
      <vt:lpstr>Wrangling with pandas: extract new columns</vt:lpstr>
      <vt:lpstr>Wrangling with pandas: extract new columns</vt:lpstr>
      <vt:lpstr>Wrangling with pandas: extract new columns</vt:lpstr>
      <vt:lpstr>Wrangling with pandas: extract new columns</vt:lpstr>
      <vt:lpstr>Cleaning with pandas: unique</vt:lpstr>
      <vt:lpstr>Cleaning with pandas: unique</vt:lpstr>
      <vt:lpstr>Cleaning with pandas: unique</vt:lpstr>
      <vt:lpstr>Cleaning with pandas: unique</vt:lpstr>
      <vt:lpstr>Cleaning with pandas: apply and lambda</vt:lpstr>
      <vt:lpstr>Cleaning with pandas: apply and lambda</vt:lpstr>
      <vt:lpstr>Cleaning with pandas: unique</vt:lpstr>
      <vt:lpstr>Cleaning with pandas: value_counts</vt:lpstr>
      <vt:lpstr>Cleaning with pandas: value_counts</vt:lpstr>
      <vt:lpstr>Cleaning with pandas: apply and filtering</vt:lpstr>
      <vt:lpstr>Cleaning with pandas: apply and filtering</vt:lpstr>
      <vt:lpstr>Cleaning with pandas: apply and filtering</vt:lpstr>
      <vt:lpstr>Cleaning with pandas: apply and filtering</vt:lpstr>
      <vt:lpstr>Cleaning with pandas: apply and filtering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Cleaning with pandas: custom functions</vt:lpstr>
      <vt:lpstr>Reading data into pandas: info and describe</vt:lpstr>
      <vt:lpstr>Reading data into pandas: info and describe</vt:lpstr>
      <vt:lpstr>Wrangling with pandas: concat </vt:lpstr>
      <vt:lpstr>Wrangling with pandas: concat </vt:lpstr>
      <vt:lpstr>Wrangling with pandas: concat </vt:lpstr>
      <vt:lpstr>Wrangling with pandas: concat </vt:lpstr>
      <vt:lpstr>Wrangling with pandas: concat </vt:lpstr>
      <vt:lpstr>Wrangling with pandas: concat </vt:lpstr>
      <vt:lpstr>Wrangling with pandas: concat </vt:lpstr>
      <vt:lpstr>Wrangling with pandas: concat, join </vt:lpstr>
      <vt:lpstr>Wrangling with pandas: concat, join </vt:lpstr>
      <vt:lpstr>Wrangling with pandas: concat, join </vt:lpstr>
      <vt:lpstr>Wrangling with pandas: merge </vt:lpstr>
      <vt:lpstr>Wrangling with pandas: merge </vt:lpstr>
      <vt:lpstr>Wrangling with pandas: merge </vt:lpstr>
      <vt:lpstr>Wrangling with pandas: isin</vt:lpstr>
      <vt:lpstr>Wrangling with pandas: isin</vt:lpstr>
      <vt:lpstr>Wrangling with pandas: isin</vt:lpstr>
      <vt:lpstr>Wrangling with pandas: merge </vt:lpstr>
      <vt:lpstr>Wrangling with pandas: merge </vt:lpstr>
      <vt:lpstr>Wrangling with pandas: merge </vt:lpstr>
      <vt:lpstr>Wrangling with pandas: merge </vt:lpstr>
      <vt:lpstr>Wrangling with pandas: merge </vt:lpstr>
      <vt:lpstr>Wrangling with pandas: merge </vt:lpstr>
      <vt:lpstr>Wrangling with pandas: merge </vt:lpstr>
      <vt:lpstr>pandas: where to find definitions</vt:lpstr>
      <vt:lpstr>The data science process: Book Recommendations</vt:lpstr>
      <vt:lpstr>QED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Van Yperen</dc:creator>
  <cp:lastModifiedBy>James Van Yperen</cp:lastModifiedBy>
  <cp:revision>145</cp:revision>
  <cp:lastPrinted>2023-10-06T15:54:49Z</cp:lastPrinted>
  <dcterms:created xsi:type="dcterms:W3CDTF">2021-06-16T07:38:49Z</dcterms:created>
  <dcterms:modified xsi:type="dcterms:W3CDTF">2023-10-12T21:15:24Z</dcterms:modified>
</cp:coreProperties>
</file>